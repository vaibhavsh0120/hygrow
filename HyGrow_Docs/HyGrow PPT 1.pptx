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Atkinson Hyperlegible Next" pitchFamily="2" charset="0"/>
      <p:regular r:id="rId10"/>
      <p:bold r:id="rId11"/>
    </p:embeddedFont>
    <p:embeddedFont>
      <p:font typeface="Atkinson Hyperlegible Next Bold" charset="0"/>
      <p:regular r:id="rId12"/>
    </p:embeddedFont>
    <p:embeddedFont>
      <p:font typeface="Atkinson Hyperlegible Next ExtraBold" panose="020B0604020202020204" charset="0"/>
      <p:regular r:id="rId13"/>
    </p:embeddedFont>
    <p:embeddedFont>
      <p:font typeface="Atkinson Hyperlegible Next Medium" panose="020B0604020202020204" charset="0"/>
      <p:regular r:id="rId14"/>
    </p:embeddedFont>
    <p:embeddedFont>
      <p:font typeface="Atkinson Hyperlegible Next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718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9D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73483" cy="6858000"/>
          </a:xfrm>
          <a:custGeom>
            <a:avLst/>
            <a:gdLst/>
            <a:ahLst/>
            <a:cxnLst/>
            <a:rect l="l" t="t" r="r" b="b"/>
            <a:pathLst>
              <a:path w="4673483" h="6858000">
                <a:moveTo>
                  <a:pt x="38099" y="0"/>
                </a:moveTo>
                <a:lnTo>
                  <a:pt x="4673483" y="0"/>
                </a:lnTo>
                <a:lnTo>
                  <a:pt x="4673483" y="6858000"/>
                </a:lnTo>
                <a:lnTo>
                  <a:pt x="38099" y="6858000"/>
                </a:lnTo>
                <a:arcTo wR="38099" hR="38100" stAng="5400000" swAng="5400000"/>
                <a:lnTo>
                  <a:pt x="0" y="38100"/>
                </a:lnTo>
                <a:arcTo wR="38099" hR="38100" stAng="10800000" swAng="5400000"/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80990" y="431800"/>
            <a:ext cx="391150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b="1" kern="0" spc="80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B.TECH CSE · FINAL YEAR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80990" y="1092795"/>
            <a:ext cx="3911502" cy="820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6800" kern="0" spc="-238" dirty="0">
                <a:solidFill>
                  <a:srgbClr val="000000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HY</a:t>
            </a:r>
            <a:r>
              <a:rPr lang="en-US" sz="6800" kern="0" spc="-238" dirty="0">
                <a:solidFill>
                  <a:srgbClr val="B23A2E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GROW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80990" y="2116336"/>
            <a:ext cx="3911502" cy="217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200" b="1" kern="0" spc="-105" dirty="0">
                <a:solidFill>
                  <a:srgbClr val="000000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SMART AI-POWERED IOT HYDROPONICS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80990" y="5542459"/>
            <a:ext cx="3911502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Inderprastha Engineering College, Ghaziabad</a:t>
            </a:r>
            <a:endParaRPr lang="en-US" sz="2000" dirty="0"/>
          </a:p>
          <a:p>
            <a:pPr marL="0" indent="0" algn="l">
              <a:lnSpc>
                <a:spcPct val="97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Session 2026–27</a:t>
            </a:r>
            <a:endParaRPr lang="en-US" sz="2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483" y="0"/>
            <a:ext cx="7518212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95C532-F628-38DB-7EFF-CE87C5255245}"/>
              </a:ext>
            </a:extLst>
          </p:cNvPr>
          <p:cNvSpPr/>
          <p:nvPr/>
        </p:nvSpPr>
        <p:spPr>
          <a:xfrm>
            <a:off x="11056775" y="6503436"/>
            <a:ext cx="1125894" cy="34523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custGeom>
            <a:avLst/>
            <a:gdLst/>
            <a:ahLst/>
            <a:cxnLst/>
            <a:rect l="l" t="t" r="r" b="b"/>
            <a:pathLst>
              <a:path w="4470288" h="6858000">
                <a:moveTo>
                  <a:pt x="38099" y="0"/>
                </a:moveTo>
                <a:lnTo>
                  <a:pt x="4470288" y="0"/>
                </a:lnTo>
                <a:lnTo>
                  <a:pt x="4470288" y="6858000"/>
                </a:lnTo>
                <a:lnTo>
                  <a:pt x="38099" y="6858000"/>
                </a:lnTo>
                <a:arcTo wR="38099" hR="38100" stAng="5400000" swAng="5400000"/>
                <a:lnTo>
                  <a:pt x="0" y="38100"/>
                </a:lnTo>
                <a:arcTo wR="38099" hR="38100" stAng="10800000" swAng="5400000"/>
                <a:close/>
              </a:path>
            </a:pathLst>
          </a:custGeom>
          <a:solidFill>
            <a:srgbClr val="131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89" y="558800"/>
            <a:ext cx="3555911" cy="2291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800" b="1" kern="0" spc="-133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 PLANT CAN BE UNHEALTHY BEFORE IT LOOKS </a:t>
            </a:r>
            <a:r>
              <a:rPr lang="en-US" sz="3800" b="1" kern="0" spc="-133" dirty="0">
                <a:solidFill>
                  <a:srgbClr val="D5685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UNHEALTHY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978275" y="558800"/>
            <a:ext cx="6705432" cy="1797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Visible symptoms — leaf color, wilting, stunted growth — are a late signal. Plant problems often take days or weeks to become visually obvious; by then the plant may already have suffered significant stress or growth loss. The real gap: farmers need to know something is wrong before it becomes visible.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978275" y="2686844"/>
            <a:ext cx="2212622" cy="57150"/>
          </a:xfrm>
          <a:prstGeom prst="roundRect">
            <a:avLst>
              <a:gd name="adj" fmla="val 49999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78275" y="3074194"/>
            <a:ext cx="6705432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98000"/>
              </a:lnSpc>
              <a:buSzPct val="100000"/>
              <a:buFont typeface="+mj-lt"/>
              <a:buAutoNum type="arabicPeriod"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pH gradually drifts out of range</a:t>
            </a:r>
            <a:endParaRPr lang="en-US" sz="1800" dirty="0"/>
          </a:p>
          <a:p>
            <a:pPr marL="365760" indent="-365760" algn="l">
              <a:lnSpc>
                <a:spcPct val="98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Farmer receives an early alert</a:t>
            </a:r>
            <a:endParaRPr lang="en-US" sz="1800" dirty="0"/>
          </a:p>
          <a:p>
            <a:pPr marL="365760" indent="-365760" algn="l">
              <a:lnSpc>
                <a:spcPct val="98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Corrective action is taken</a:t>
            </a:r>
            <a:endParaRPr lang="en-US" sz="1800" dirty="0"/>
          </a:p>
          <a:p>
            <a:pPr marL="365760" indent="-365760" algn="l">
              <a:lnSpc>
                <a:spcPct val="98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Plant never reaches visible stress</a:t>
            </a:r>
            <a:endParaRPr lang="en-US" sz="1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DD35D-7E5F-308E-D764-CBE2664F1287}"/>
              </a:ext>
            </a:extLst>
          </p:cNvPr>
          <p:cNvSpPr/>
          <p:nvPr/>
        </p:nvSpPr>
        <p:spPr>
          <a:xfrm>
            <a:off x="11056775" y="6503436"/>
            <a:ext cx="1125894" cy="34523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283068" cy="6858000"/>
          </a:xfrm>
          <a:custGeom>
            <a:avLst/>
            <a:gdLst/>
            <a:ahLst/>
            <a:cxnLst/>
            <a:rect l="l" t="t" r="r" b="b"/>
            <a:pathLst>
              <a:path w="5283068" h="6858000">
                <a:moveTo>
                  <a:pt x="38099" y="0"/>
                </a:moveTo>
                <a:lnTo>
                  <a:pt x="5283068" y="0"/>
                </a:lnTo>
                <a:lnTo>
                  <a:pt x="5283068" y="6858000"/>
                </a:lnTo>
                <a:lnTo>
                  <a:pt x="38099" y="6858000"/>
                </a:lnTo>
                <a:arcTo wR="38099" hR="38100" stAng="5400000" swAng="5400000"/>
                <a:lnTo>
                  <a:pt x="0" y="38100"/>
                </a:lnTo>
                <a:arcTo wR="38099" hR="38100" stAng="10800000" swAng="5400000"/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89" y="1945680"/>
            <a:ext cx="4368691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3600" b="1" kern="0" spc="-126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ONE CONNECTED LOOP, NOT ISOLATED </a:t>
            </a:r>
            <a:r>
              <a:rPr lang="en-US" sz="3600" b="1" kern="0" spc="-126" dirty="0">
                <a:solidFill>
                  <a:srgbClr val="B23A2E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SENSORS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3473946"/>
            <a:ext cx="4368691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HyGrow connects the entire hydroponic workflow instead of treating farm sensors as a standalone system.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283068" y="0"/>
            <a:ext cx="6908627" cy="6858000"/>
          </a:xfrm>
          <a:custGeom>
            <a:avLst/>
            <a:gdLst/>
            <a:ahLst/>
            <a:cxnLst/>
            <a:rect l="l" t="t" r="r" b="b"/>
            <a:pathLst>
              <a:path w="6908627" h="6858000">
                <a:moveTo>
                  <a:pt x="0" y="0"/>
                </a:moveTo>
                <a:lnTo>
                  <a:pt x="6870528" y="0"/>
                </a:lnTo>
                <a:arcTo wR="38099" hR="38100" stAng="16200000" swAng="5400000"/>
                <a:lnTo>
                  <a:pt x="6908627" y="6819900"/>
                </a:lnTo>
                <a:arcTo wR="38099" hR="38100" stAng="0" swAng="5400000"/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40256" y="492919"/>
          <a:ext cx="9143771" cy="914400"/>
        </p:xfrm>
        <a:graphic>
          <a:graphicData uri="http://schemas.openxmlformats.org/drawingml/2006/table">
            <a:tbl>
              <a:tblPr/>
              <a:tblGrid>
                <a:gridCol w="179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5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22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Stage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What HyGrow does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14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Monitor: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live farm sensor data — temperature, humidity, pH, TDS, water level, light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Analyse: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historical trends beyond the current reading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Predict: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AI plant health and growth/harvest prediction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Act: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smart alerts trigger corrective action early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627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Sell: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31A2B"/>
                          </a:solidFill>
                          <a:latin typeface="Atkinson Hyperlegible Next" pitchFamily="34" charset="0"/>
                          <a:ea typeface="Atkinson Hyperlegible Next" pitchFamily="34" charset="-122"/>
                          <a:cs typeface="Atkinson Hyperlegible Next" pitchFamily="34" charset="-120"/>
                        </a:rPr>
                        <a:t>marketplace connects farmers directly to customers</a:t>
                      </a:r>
                      <a:endParaRPr lang="en-US" sz="2000" dirty="0">
                        <a:latin typeface="Atkinson Hyperlegible Next" charset="0"/>
                        <a:ea typeface="Atkinson Hyperlegible Next" charset="0"/>
                        <a:cs typeface="Atkinson Hyperlegible Next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B0B1B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8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159746" cy="6858000"/>
          </a:xfrm>
          <a:custGeom>
            <a:avLst/>
            <a:gdLst/>
            <a:ahLst/>
            <a:cxnLst/>
            <a:rect l="l" t="t" r="r" b="b"/>
            <a:pathLst>
              <a:path w="10159746" h="6858000">
                <a:moveTo>
                  <a:pt x="38099" y="0"/>
                </a:moveTo>
                <a:lnTo>
                  <a:pt x="10159746" y="0"/>
                </a:lnTo>
                <a:lnTo>
                  <a:pt x="10159746" y="6858000"/>
                </a:lnTo>
                <a:lnTo>
                  <a:pt x="38099" y="6858000"/>
                </a:lnTo>
                <a:arcTo wR="38099" hR="38100" stAng="5400000" swAng="5400000"/>
                <a:lnTo>
                  <a:pt x="0" y="38100"/>
                </a:lnTo>
                <a:arcTo wR="38099" hR="38100" stAng="10800000" swAng="5400000"/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89" y="498773"/>
            <a:ext cx="9245369" cy="5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200" b="1" kern="0" spc="-147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CORE </a:t>
            </a:r>
            <a:r>
              <a:rPr lang="en-US" sz="4200" b="1" kern="0" spc="-147" dirty="0">
                <a:solidFill>
                  <a:srgbClr val="B23A2E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FEATURES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457189" y="1230908"/>
            <a:ext cx="3005558" cy="2569468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189" y="1230908"/>
            <a:ext cx="800080" cy="800100"/>
          </a:xfrm>
          <a:prstGeom prst="rect">
            <a:avLst/>
          </a:prstGeom>
          <a:noFill/>
          <a:ln w="1905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38" y="1249958"/>
            <a:ext cx="761981" cy="762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9" y="2183408"/>
            <a:ext cx="3005558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Live monitoring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189" y="2721670"/>
            <a:ext cx="3005558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Real-time temperature, humidity, pH, TDS, water level, light, and system status.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15143" y="1230908"/>
            <a:ext cx="2929360" cy="2569468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15143" y="1230908"/>
            <a:ext cx="800080" cy="800100"/>
          </a:xfrm>
          <a:prstGeom prst="rect">
            <a:avLst/>
          </a:prstGeom>
          <a:noFill/>
          <a:ln w="1905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193" y="1249958"/>
            <a:ext cx="761981" cy="762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5143" y="2183408"/>
            <a:ext cx="2929360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Smart alerts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615143" y="2721670"/>
            <a:ext cx="2929360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Warnings when values leave safe ranges.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6696900" y="1230908"/>
            <a:ext cx="3005658" cy="2569468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696900" y="1230908"/>
            <a:ext cx="800080" cy="800100"/>
          </a:xfrm>
          <a:prstGeom prst="rect">
            <a:avLst/>
          </a:prstGeom>
          <a:noFill/>
          <a:ln w="1905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949" y="1249958"/>
            <a:ext cx="761981" cy="7620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6900" y="2183408"/>
            <a:ext cx="3005658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Historical analytics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696900" y="2721670"/>
            <a:ext cx="3615242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Track trends over time.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57189" y="3952776"/>
            <a:ext cx="3005558" cy="2406452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457189" y="3952776"/>
            <a:ext cx="800080" cy="800100"/>
          </a:xfrm>
          <a:prstGeom prst="rect">
            <a:avLst/>
          </a:prstGeom>
          <a:noFill/>
          <a:ln w="1905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38" y="3971826"/>
            <a:ext cx="761981" cy="7620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189" y="4905276"/>
            <a:ext cx="3005558" cy="752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AI disease detection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457189" y="5819874"/>
            <a:ext cx="3005558" cy="539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Leaf-photo health results and recommendations.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3615143" y="3952776"/>
            <a:ext cx="2929360" cy="2406452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3615143" y="3952776"/>
            <a:ext cx="800080" cy="800100"/>
          </a:xfrm>
          <a:prstGeom prst="rect">
            <a:avLst/>
          </a:prstGeom>
          <a:noFill/>
          <a:ln w="1905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4193" y="3971826"/>
            <a:ext cx="761981" cy="7620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615143" y="4905276"/>
            <a:ext cx="2929360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Growth prediction</a:t>
            </a:r>
            <a:endParaRPr lang="en-US" sz="2600" dirty="0"/>
          </a:p>
        </p:txBody>
      </p:sp>
      <p:sp>
        <p:nvSpPr>
          <p:cNvPr id="28" name="Text 21"/>
          <p:cNvSpPr/>
          <p:nvPr/>
        </p:nvSpPr>
        <p:spPr>
          <a:xfrm>
            <a:off x="3615143" y="5443538"/>
            <a:ext cx="2929360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Estimate growth status and harvest timing from sensor data.</a:t>
            </a:r>
            <a:endParaRPr lang="en-US" sz="1800" dirty="0"/>
          </a:p>
        </p:txBody>
      </p:sp>
      <p:sp>
        <p:nvSpPr>
          <p:cNvPr id="29" name="Shape 22"/>
          <p:cNvSpPr/>
          <p:nvPr/>
        </p:nvSpPr>
        <p:spPr>
          <a:xfrm>
            <a:off x="6696900" y="3952776"/>
            <a:ext cx="3005658" cy="2406452"/>
          </a:xfrm>
          <a:prstGeom prst="rect">
            <a:avLst/>
          </a:pr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6696900" y="3952776"/>
            <a:ext cx="800080" cy="800100"/>
          </a:xfrm>
          <a:prstGeom prst="rect">
            <a:avLst/>
          </a:prstGeom>
          <a:noFill/>
          <a:ln w="1905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949" y="3971826"/>
            <a:ext cx="761981" cy="7620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6900" y="4905276"/>
            <a:ext cx="3005658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Farm management</a:t>
            </a:r>
            <a:endParaRPr lang="en-US" sz="2600" dirty="0"/>
          </a:p>
        </p:txBody>
      </p:sp>
      <p:sp>
        <p:nvSpPr>
          <p:cNvPr id="33" name="Text 25"/>
          <p:cNvSpPr/>
          <p:nvPr/>
        </p:nvSpPr>
        <p:spPr>
          <a:xfrm>
            <a:off x="6696900" y="5443538"/>
            <a:ext cx="3005658" cy="80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Manage inventory and connect farmers with customers.</a:t>
            </a:r>
            <a:endParaRPr lang="en-US" sz="18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9746" y="0"/>
            <a:ext cx="2031949" cy="6858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BB2D163A-8913-FB81-1BC9-87BF0133FD2F}"/>
              </a:ext>
            </a:extLst>
          </p:cNvPr>
          <p:cNvSpPr/>
          <p:nvPr/>
        </p:nvSpPr>
        <p:spPr>
          <a:xfrm>
            <a:off x="11056775" y="6503436"/>
            <a:ext cx="1125894" cy="34523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custGeom>
            <a:avLst/>
            <a:gdLst/>
            <a:ahLst/>
            <a:cxnLst/>
            <a:rect l="l" t="t" r="r" b="b"/>
            <a:pathLst>
              <a:path w="3657509" h="6858000">
                <a:moveTo>
                  <a:pt x="38099" y="0"/>
                </a:moveTo>
                <a:lnTo>
                  <a:pt x="3657509" y="0"/>
                </a:lnTo>
                <a:lnTo>
                  <a:pt x="3657509" y="6858000"/>
                </a:lnTo>
                <a:lnTo>
                  <a:pt x="38099" y="6858000"/>
                </a:lnTo>
                <a:arcTo wR="38099" hR="38100" stAng="5400000" swAng="5400000"/>
                <a:lnTo>
                  <a:pt x="0" y="38100"/>
                </a:lnTo>
                <a:arcTo wR="38099" hR="38100" stAng="10800000" swAng="5400000"/>
                <a:close/>
              </a:path>
            </a:pathLst>
          </a:custGeom>
          <a:solidFill>
            <a:srgbClr val="131A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89" y="646013"/>
            <a:ext cx="2743131" cy="202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200" b="1" kern="0" spc="-147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BUILT FOR THREE</a:t>
            </a:r>
            <a:endParaRPr lang="en-US" sz="42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4200" b="1" kern="0" spc="-147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KINDS OF </a:t>
            </a:r>
            <a:r>
              <a:rPr lang="en-US" sz="4200" b="1" kern="0" spc="-147" dirty="0">
                <a:solidFill>
                  <a:srgbClr val="D5685D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USERS</a:t>
            </a:r>
            <a:endParaRPr lang="en-US" sz="4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825254"/>
            <a:ext cx="2539936" cy="338663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759106" y="355600"/>
            <a:ext cx="2675367" cy="6146800"/>
          </a:xfrm>
          <a:prstGeom prst="rect">
            <a:avLst/>
          </a:prstGeom>
          <a:noFill/>
          <a:ln w="38099">
            <a:solidFill>
              <a:srgbClr val="2C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601" y="1869678"/>
            <a:ext cx="609585" cy="609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49601" y="2682478"/>
            <a:ext cx="2294376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Farmer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3949601" y="3220740"/>
            <a:ext cx="2294376" cy="1767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Monitors farm conditions, receives alerts, uses AI tools, manages inventory, and sells produce.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586869" y="355600"/>
            <a:ext cx="2675367" cy="6146800"/>
          </a:xfrm>
          <a:prstGeom prst="rect">
            <a:avLst/>
          </a:prstGeom>
          <a:noFill/>
          <a:ln w="38099">
            <a:solidFill>
              <a:srgbClr val="2C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7364" y="2164259"/>
            <a:ext cx="609585" cy="609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77364" y="2977059"/>
            <a:ext cx="2294376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Customer</a:t>
            </a:r>
            <a:endParaRPr lang="en-US" sz="2600" dirty="0"/>
          </a:p>
        </p:txBody>
      </p:sp>
      <p:sp>
        <p:nvSpPr>
          <p:cNvPr id="12" name="Text 7"/>
          <p:cNvSpPr/>
          <p:nvPr/>
        </p:nvSpPr>
        <p:spPr>
          <a:xfrm>
            <a:off x="6777364" y="3515320"/>
            <a:ext cx="2294376" cy="1178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Browses produce, places orders, tracks orders, views order history.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9414632" y="355600"/>
            <a:ext cx="2675466" cy="6146800"/>
          </a:xfrm>
          <a:custGeom>
            <a:avLst/>
            <a:gdLst/>
            <a:ahLst/>
            <a:cxnLst/>
            <a:rect l="l" t="t" r="r" b="b"/>
            <a:pathLst>
              <a:path w="2675466" h="6146800">
                <a:moveTo>
                  <a:pt x="0" y="0"/>
                </a:moveTo>
                <a:lnTo>
                  <a:pt x="2637367" y="0"/>
                </a:lnTo>
                <a:arcTo wR="38099" hR="38100" stAng="16200000" swAng="5400000"/>
                <a:lnTo>
                  <a:pt x="2675466" y="6108700"/>
                </a:lnTo>
                <a:arcTo wR="38099" hR="38100" stAng="0" swAng="5400000"/>
                <a:lnTo>
                  <a:pt x="0" y="6146800"/>
                </a:lnTo>
                <a:lnTo>
                  <a:pt x="0" y="0"/>
                </a:lnTo>
                <a:close/>
              </a:path>
            </a:pathLst>
          </a:custGeom>
          <a:noFill/>
          <a:ln w="38099">
            <a:solidFill>
              <a:srgbClr val="2C33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5127" y="2311598"/>
            <a:ext cx="609585" cy="609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605127" y="3124398"/>
            <a:ext cx="2294475" cy="37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Admin</a:t>
            </a:r>
            <a:endParaRPr lang="en-US" sz="2600" dirty="0"/>
          </a:p>
        </p:txBody>
      </p:sp>
      <p:sp>
        <p:nvSpPr>
          <p:cNvPr id="16" name="Text 10"/>
          <p:cNvSpPr/>
          <p:nvPr/>
        </p:nvSpPr>
        <p:spPr>
          <a:xfrm>
            <a:off x="9605127" y="3662660"/>
            <a:ext cx="2294475" cy="883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Platform and order oversight with broader access.</a:t>
            </a:r>
            <a:endParaRPr lang="en-US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09C954-1ED3-9D7A-F867-29A66D091309}"/>
              </a:ext>
            </a:extLst>
          </p:cNvPr>
          <p:cNvSpPr/>
          <p:nvPr/>
        </p:nvSpPr>
        <p:spPr>
          <a:xfrm>
            <a:off x="11056775" y="6522099"/>
            <a:ext cx="1125894" cy="335902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074123" cy="1013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4200" b="1" kern="0" spc="-147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PROGRESS SO FAR,</a:t>
            </a:r>
            <a:endParaRPr lang="en-US" sz="42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4200" b="1" kern="0" spc="-147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AND WHAT’S </a:t>
            </a:r>
            <a:r>
              <a:rPr lang="en-US" sz="4200" b="1" kern="0" spc="-147" dirty="0">
                <a:solidFill>
                  <a:srgbClr val="B23A2E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NEXT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558786" y="2144812"/>
            <a:ext cx="1885506" cy="455811"/>
          </a:xfrm>
          <a:prstGeom prst="roundRect">
            <a:avLst>
              <a:gd name="adj" fmla="val 2508"/>
            </a:avLst>
          </a:prstGeom>
          <a:solidFill>
            <a:srgbClr val="F5D9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41642" y="2236192"/>
            <a:ext cx="2129380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0" spc="77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FIRST TERM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58786" y="2778423"/>
            <a:ext cx="5257668" cy="46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Foundations built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58786" y="3403600"/>
            <a:ext cx="5257668" cy="2876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Problem identification &amp; research, requirement analysis, system architecture, IoT monitoring foundation, app development with authentication &amp; roles, dashboard &amp; analytics, AI disease detection, growth prediction, inventory &amp; marketplace, order management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375241" y="2504380"/>
            <a:ext cx="1949302" cy="455811"/>
          </a:xfrm>
          <a:prstGeom prst="roundRect">
            <a:avLst>
              <a:gd name="adj" fmla="val 2508"/>
            </a:avLst>
          </a:prstGeom>
          <a:noFill/>
          <a:ln w="12700">
            <a:solidFill>
              <a:srgbClr val="131A2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558096" y="2595761"/>
            <a:ext cx="2193176" cy="27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1900" b="1" kern="0" spc="77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NEXT PHASE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375241" y="3137991"/>
            <a:ext cx="5257668" cy="463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What's ahead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375241" y="3763169"/>
            <a:ext cx="5257668" cy="2157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Better integration between modules, testing &amp; debugging, improving prediction capabilities, system optimization, end-to-end and field validation, final documentation &amp; deployment</a:t>
            </a:r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152348-30BE-BC06-16BF-5429246BB9A6}"/>
              </a:ext>
            </a:extLst>
          </p:cNvPr>
          <p:cNvSpPr/>
          <p:nvPr/>
        </p:nvSpPr>
        <p:spPr>
          <a:xfrm>
            <a:off x="11056775" y="6503436"/>
            <a:ext cx="1125894" cy="34523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79873" cy="6858000"/>
          </a:xfrm>
          <a:custGeom>
            <a:avLst/>
            <a:gdLst/>
            <a:ahLst/>
            <a:cxnLst/>
            <a:rect l="l" t="t" r="r" b="b"/>
            <a:pathLst>
              <a:path w="5079873" h="6858000">
                <a:moveTo>
                  <a:pt x="38099" y="0"/>
                </a:moveTo>
                <a:lnTo>
                  <a:pt x="5079873" y="0"/>
                </a:lnTo>
                <a:lnTo>
                  <a:pt x="5079873" y="6858000"/>
                </a:lnTo>
                <a:lnTo>
                  <a:pt x="38099" y="6858000"/>
                </a:lnTo>
                <a:arcTo wR="38099" hR="38100" stAng="5400000" swAng="5400000"/>
                <a:lnTo>
                  <a:pt x="0" y="38100"/>
                </a:lnTo>
                <a:arcTo wR="38099" hR="38100" stAng="10800000" swAng="5400000"/>
                <a:close/>
              </a:path>
            </a:pathLst>
          </a:custGeom>
          <a:solidFill>
            <a:srgbClr val="FAF8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189" y="1519734"/>
            <a:ext cx="4165496" cy="2123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8800" kern="0" spc="-308" dirty="0">
                <a:solidFill>
                  <a:srgbClr val="131A2B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THANK</a:t>
            </a:r>
            <a:endParaRPr lang="en-US" sz="8800" dirty="0"/>
          </a:p>
          <a:p>
            <a:pPr marL="0" indent="0" algn="l">
              <a:lnSpc>
                <a:spcPct val="79000"/>
              </a:lnSpc>
              <a:buNone/>
            </a:pPr>
            <a:r>
              <a:rPr lang="en-US" sz="8800" kern="0" spc="-308" dirty="0">
                <a:solidFill>
                  <a:srgbClr val="B23A2E"/>
                </a:solidFill>
                <a:latin typeface="Atkinson Hyperlegible Next ExtraBold" pitchFamily="34" charset="0"/>
                <a:ea typeface="Atkinson Hyperlegible Next ExtraBold" pitchFamily="34" charset="-122"/>
                <a:cs typeface="Atkinson Hyperlegible Next ExtraBold" pitchFamily="34" charset="-120"/>
              </a:rPr>
              <a:t>YOU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189" y="3899991"/>
            <a:ext cx="4165496" cy="1438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400" dirty="0">
                <a:solidFill>
                  <a:srgbClr val="131A2B"/>
                </a:solidFill>
                <a:latin typeface="Atkinson Hyperlegible Next Medium" pitchFamily="34" charset="0"/>
                <a:ea typeface="Atkinson Hyperlegible Next Medium" pitchFamily="34" charset="-122"/>
                <a:cs typeface="Atkinson Hyperlegible Next Medium" pitchFamily="34" charset="-120"/>
              </a:rPr>
              <a:t>HyGrow brings farm condition, plant intelligence, and market access into one connected platform.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537061" y="945059"/>
            <a:ext cx="619744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TEAM</a:t>
            </a: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· Ekta Jain, Vaibhav Sharma, Prithvi Singh, Samarth Sharma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537061" y="2601020"/>
            <a:ext cx="665463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GUIDE</a:t>
            </a: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· Prof. Dr. Vijai Singh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37061" y="3962400"/>
            <a:ext cx="6197445" cy="589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INSTITUTION</a:t>
            </a: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· Inderprastha Engineering College, Ghaziabad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537061" y="5618361"/>
            <a:ext cx="6654634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000" b="1" dirty="0">
                <a:solidFill>
                  <a:srgbClr val="131A2B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PROGRAM</a:t>
            </a:r>
            <a:r>
              <a:rPr lang="en-US" sz="2000" dirty="0">
                <a:solidFill>
                  <a:srgbClr val="131A2B"/>
                </a:solidFill>
                <a:latin typeface="Atkinson Hyperlegible Next SemiBold" pitchFamily="34" charset="0"/>
                <a:ea typeface="Atkinson Hyperlegible Next SemiBold" pitchFamily="34" charset="-122"/>
                <a:cs typeface="Atkinson Hyperlegible Next SemiBold" pitchFamily="34" charset="-120"/>
              </a:rPr>
              <a:t> · B.Tech CSE, Session 2026–27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73523" y="0"/>
            <a:ext cx="12700" cy="6858000"/>
          </a:xfrm>
          <a:prstGeom prst="rect">
            <a:avLst/>
          </a:prstGeom>
          <a:solidFill>
            <a:srgbClr val="131A2B">
              <a:alpha val="3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EBF49C-1576-298E-86A2-09BB3A5F6DB2}"/>
              </a:ext>
            </a:extLst>
          </p:cNvPr>
          <p:cNvSpPr/>
          <p:nvPr/>
        </p:nvSpPr>
        <p:spPr>
          <a:xfrm>
            <a:off x="11056775" y="6503436"/>
            <a:ext cx="1125894" cy="345233"/>
          </a:xfrm>
          <a:prstGeom prst="rect">
            <a:avLst/>
          </a:prstGeom>
          <a:solidFill>
            <a:srgbClr val="FAF8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</Words>
  <Application>Microsoft Office PowerPoint</Application>
  <PresentationFormat>Widescreen</PresentationFormat>
  <Paragraphs>68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Atkinson Hyperlegible Next Medium</vt:lpstr>
      <vt:lpstr>Arial</vt:lpstr>
      <vt:lpstr>Atkinson Hyperlegible Next SemiBold</vt:lpstr>
      <vt:lpstr>Atkinson Hyperlegible Next</vt:lpstr>
      <vt:lpstr>Atkinson Hyperlegible Next ExtraBold</vt:lpstr>
      <vt:lpstr>Atkinson Hyperlegible Next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Vaibhav Sharma</cp:lastModifiedBy>
  <cp:revision>2</cp:revision>
  <dcterms:created xsi:type="dcterms:W3CDTF">2026-09-07T11:24:57Z</dcterms:created>
  <dcterms:modified xsi:type="dcterms:W3CDTF">2026-09-07T11:32:53Z</dcterms:modified>
</cp:coreProperties>
</file>