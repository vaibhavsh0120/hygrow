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apna Singh" userId="f15fb402c17fbdb2" providerId="LiveId" clId="{8FC97033-841C-4B6A-9AB0-38B9E4355B92}"/>
    <pc:docChg chg="custSel modSld">
      <pc:chgData name="Swapna Singh" userId="f15fb402c17fbdb2" providerId="LiveId" clId="{8FC97033-841C-4B6A-9AB0-38B9E4355B92}" dt="2026-09-21T09:19:57.657" v="6" actId="14100"/>
      <pc:docMkLst>
        <pc:docMk/>
      </pc:docMkLst>
      <pc:sldChg chg="addSp delSp modSp mod">
        <pc:chgData name="Swapna Singh" userId="f15fb402c17fbdb2" providerId="LiveId" clId="{8FC97033-841C-4B6A-9AB0-38B9E4355B92}" dt="2026-09-21T09:19:57.657" v="6" actId="14100"/>
        <pc:sldMkLst>
          <pc:docMk/>
          <pc:sldMk cId="0" sldId="266"/>
        </pc:sldMkLst>
        <pc:spChg chg="del">
          <ac:chgData name="Swapna Singh" userId="f15fb402c17fbdb2" providerId="LiveId" clId="{8FC97033-841C-4B6A-9AB0-38B9E4355B92}" dt="2026-09-21T09:19:32.422" v="0" actId="478"/>
          <ac:spMkLst>
            <pc:docMk/>
            <pc:sldMk cId="0" sldId="266"/>
            <ac:spMk id="11" creationId="{00000000-0000-0000-0000-000000000000}"/>
          </ac:spMkLst>
        </pc:spChg>
        <pc:spChg chg="del">
          <ac:chgData name="Swapna Singh" userId="f15fb402c17fbdb2" providerId="LiveId" clId="{8FC97033-841C-4B6A-9AB0-38B9E4355B92}" dt="2026-09-21T09:19:32.422" v="0" actId="478"/>
          <ac:spMkLst>
            <pc:docMk/>
            <pc:sldMk cId="0" sldId="266"/>
            <ac:spMk id="15" creationId="{00000000-0000-0000-0000-000000000000}"/>
          </ac:spMkLst>
        </pc:spChg>
        <pc:spChg chg="del">
          <ac:chgData name="Swapna Singh" userId="f15fb402c17fbdb2" providerId="LiveId" clId="{8FC97033-841C-4B6A-9AB0-38B9E4355B92}" dt="2026-09-21T09:19:32.422" v="0" actId="478"/>
          <ac:spMkLst>
            <pc:docMk/>
            <pc:sldMk cId="0" sldId="266"/>
            <ac:spMk id="28" creationId="{00000000-0000-0000-0000-000000000000}"/>
          </ac:spMkLst>
        </pc:spChg>
        <pc:spChg chg="del">
          <ac:chgData name="Swapna Singh" userId="f15fb402c17fbdb2" providerId="LiveId" clId="{8FC97033-841C-4B6A-9AB0-38B9E4355B92}" dt="2026-09-21T09:19:32.422" v="0" actId="478"/>
          <ac:spMkLst>
            <pc:docMk/>
            <pc:sldMk cId="0" sldId="266"/>
            <ac:spMk id="30" creationId="{00000000-0000-0000-0000-000000000000}"/>
          </ac:spMkLst>
        </pc:spChg>
        <pc:spChg chg="del">
          <ac:chgData name="Swapna Singh" userId="f15fb402c17fbdb2" providerId="LiveId" clId="{8FC97033-841C-4B6A-9AB0-38B9E4355B92}" dt="2026-09-21T09:19:32.422" v="0" actId="478"/>
          <ac:spMkLst>
            <pc:docMk/>
            <pc:sldMk cId="0" sldId="266"/>
            <ac:spMk id="32" creationId="{00000000-0000-0000-0000-000000000000}"/>
          </ac:spMkLst>
        </pc:spChg>
        <pc:spChg chg="del">
          <ac:chgData name="Swapna Singh" userId="f15fb402c17fbdb2" providerId="LiveId" clId="{8FC97033-841C-4B6A-9AB0-38B9E4355B92}" dt="2026-09-21T09:19:32.422" v="0" actId="478"/>
          <ac:spMkLst>
            <pc:docMk/>
            <pc:sldMk cId="0" sldId="266"/>
            <ac:spMk id="35" creationId="{00000000-0000-0000-0000-000000000000}"/>
          </ac:spMkLst>
        </pc:spChg>
        <pc:spChg chg="del">
          <ac:chgData name="Swapna Singh" userId="f15fb402c17fbdb2" providerId="LiveId" clId="{8FC97033-841C-4B6A-9AB0-38B9E4355B92}" dt="2026-09-21T09:19:32.422" v="0" actId="478"/>
          <ac:spMkLst>
            <pc:docMk/>
            <pc:sldMk cId="0" sldId="266"/>
            <ac:spMk id="40" creationId="{00000000-0000-0000-0000-000000000000}"/>
          </ac:spMkLst>
        </pc:spChg>
        <pc:spChg chg="del">
          <ac:chgData name="Swapna Singh" userId="f15fb402c17fbdb2" providerId="LiveId" clId="{8FC97033-841C-4B6A-9AB0-38B9E4355B92}" dt="2026-09-21T09:19:32.422" v="0" actId="478"/>
          <ac:spMkLst>
            <pc:docMk/>
            <pc:sldMk cId="0" sldId="266"/>
            <ac:spMk id="45" creationId="{00000000-0000-0000-0000-000000000000}"/>
          </ac:spMkLst>
        </pc:spChg>
        <pc:spChg chg="del">
          <ac:chgData name="Swapna Singh" userId="f15fb402c17fbdb2" providerId="LiveId" clId="{8FC97033-841C-4B6A-9AB0-38B9E4355B92}" dt="2026-09-21T09:19:32.422" v="0" actId="478"/>
          <ac:spMkLst>
            <pc:docMk/>
            <pc:sldMk cId="0" sldId="266"/>
            <ac:spMk id="47" creationId="{00000000-0000-0000-0000-000000000000}"/>
          </ac:spMkLst>
        </pc:spChg>
        <pc:spChg chg="del">
          <ac:chgData name="Swapna Singh" userId="f15fb402c17fbdb2" providerId="LiveId" clId="{8FC97033-841C-4B6A-9AB0-38B9E4355B92}" dt="2026-09-21T09:19:32.422" v="0" actId="478"/>
          <ac:spMkLst>
            <pc:docMk/>
            <pc:sldMk cId="0" sldId="266"/>
            <ac:spMk id="48" creationId="{00000000-0000-0000-0000-000000000000}"/>
          </ac:spMkLst>
        </pc:spChg>
        <pc:spChg chg="mod">
          <ac:chgData name="Swapna Singh" userId="f15fb402c17fbdb2" providerId="LiveId" clId="{8FC97033-841C-4B6A-9AB0-38B9E4355B92}" dt="2026-09-21T09:19:46.221" v="4" actId="1076"/>
          <ac:spMkLst>
            <pc:docMk/>
            <pc:sldMk cId="0" sldId="266"/>
            <ac:spMk id="53" creationId="{00000000-0000-0000-0000-000000000000}"/>
          </ac:spMkLst>
        </pc:spChg>
        <pc:graphicFrameChg chg="add mod modGraphic">
          <ac:chgData name="Swapna Singh" userId="f15fb402c17fbdb2" providerId="LiveId" clId="{8FC97033-841C-4B6A-9AB0-38B9E4355B92}" dt="2026-09-21T09:19:57.657" v="6" actId="14100"/>
          <ac:graphicFrameMkLst>
            <pc:docMk/>
            <pc:sldMk cId="0" sldId="266"/>
            <ac:graphicFrameMk id="4" creationId="{87EA10F7-95F6-A015-B11B-F4012BCA0F87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solidFill>
              <a:srgbClr val="F6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B4A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493776"/>
            <a:ext cx="685800" cy="137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0">
                <a:solidFill>
                  <a:srgbClr val="122B4A"/>
                </a:solidFill>
                <a:latin typeface="Aptos"/>
              </a:rPr>
              <a:t>2000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8510"/>
            <a:ext cx="7774501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200" b="1" dirty="0">
                <a:solidFill>
                  <a:srgbClr val="FFFFFF"/>
                </a:solidFill>
                <a:latin typeface="Aptos"/>
              </a:rPr>
              <a:t>INDERPRASTHA ENGINEERING COLLEGE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434227"/>
            <a:ext cx="3847207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 dirty="0">
                <a:solidFill>
                  <a:srgbClr val="FFFFFF"/>
                </a:solidFill>
                <a:latin typeface="Aptos"/>
              </a:rPr>
              <a:t>Shaping Engineers and Leaders for Future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10817352" cy="73152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664208"/>
            <a:ext cx="1051560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400" b="1">
                <a:solidFill>
                  <a:srgbClr val="122B4A"/>
                </a:solidFill>
                <a:latin typeface="Aptos"/>
              </a:rPr>
              <a:t>PROJECT REVIEW
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8702" y="3159919"/>
            <a:ext cx="2624115" cy="49244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600" b="1" dirty="0">
                <a:solidFill>
                  <a:schemeClr val="tx2"/>
                </a:solidFill>
                <a:latin typeface="Aptos"/>
              </a:rPr>
              <a:t>[PROJECT TITLE]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48840" y="3977639"/>
            <a:ext cx="79095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" name="TextBox 12"/>
          <p:cNvSpPr txBox="1"/>
          <p:nvPr/>
        </p:nvSpPr>
        <p:spPr>
          <a:xfrm>
            <a:off x="2514600" y="4146692"/>
            <a:ext cx="1859099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dirty="0">
                <a:solidFill>
                  <a:srgbClr val="122B4A"/>
                </a:solidFill>
                <a:latin typeface="Aptos"/>
              </a:rPr>
              <a:t>Candidate Name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4146692"/>
            <a:ext cx="1352230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 dirty="0">
                <a:solidFill>
                  <a:srgbClr val="23272C"/>
                </a:solidFill>
                <a:latin typeface="Aptos"/>
              </a:rPr>
              <a:t>[Enter Name]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4475876"/>
            <a:ext cx="1020408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22B4A"/>
                </a:solidFill>
                <a:latin typeface="Aptos"/>
              </a:rPr>
              <a:t>Roll No.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475876"/>
            <a:ext cx="1514325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>
                <a:solidFill>
                  <a:srgbClr val="23272C"/>
                </a:solidFill>
                <a:latin typeface="Aptos"/>
              </a:rPr>
              <a:t>[Enter Roll No.]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4805060"/>
            <a:ext cx="946413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22B4A"/>
                </a:solidFill>
                <a:latin typeface="Aptos"/>
              </a:rPr>
              <a:t>Branch 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4805060"/>
            <a:ext cx="3296672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sz="1600" b="0" dirty="0">
                <a:solidFill>
                  <a:srgbClr val="23272C"/>
                </a:solidFill>
                <a:latin typeface="Aptos"/>
              </a:rPr>
              <a:t>Computer Science and Engineering</a:t>
            </a:r>
            <a:endParaRPr sz="1600" b="0" dirty="0">
              <a:solidFill>
                <a:srgbClr val="23272C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14600" y="5134244"/>
            <a:ext cx="1600823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22B4A"/>
                </a:solidFill>
                <a:latin typeface="Aptos"/>
              </a:rPr>
              <a:t>College Name 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5134244"/>
            <a:ext cx="3112583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>
                <a:solidFill>
                  <a:srgbClr val="23272C"/>
                </a:solidFill>
                <a:latin typeface="Aptos"/>
              </a:rPr>
              <a:t>Inderprastha Engineering College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5463428"/>
            <a:ext cx="1295419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22B4A"/>
                </a:solidFill>
                <a:latin typeface="Aptos"/>
              </a:rPr>
              <a:t>Supervisor 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5463428"/>
            <a:ext cx="2344360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>
                <a:solidFill>
                  <a:srgbClr val="23272C"/>
                </a:solidFill>
                <a:latin typeface="Aptos"/>
              </a:rPr>
              <a:t>[Enter Supervisor Name]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4200" y="6253158"/>
            <a:ext cx="3084563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 dirty="0">
                <a:latin typeface="Aptos"/>
              </a:rPr>
              <a:t>Project Review | Academic Session 2026–27</a:t>
            </a:r>
          </a:p>
        </p:txBody>
      </p:sp>
      <p:pic>
        <p:nvPicPr>
          <p:cNvPr id="24" name="Picture 23" descr="Best Engineering College in Ghaziabad | B.Tech, MBA, MCA ...">
            <a:extLst>
              <a:ext uri="{FF2B5EF4-FFF2-40B4-BE49-F238E27FC236}">
                <a16:creationId xmlns:a16="http://schemas.microsoft.com/office/drawing/2014/main" id="{31A522FE-3FE4-DB52-4AF7-BBB579E14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7" y="49643"/>
            <a:ext cx="891414" cy="8566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1170432" y="16056"/>
            <a:ext cx="5877058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 dirty="0">
                <a:solidFill>
                  <a:srgbClr val="122B4A"/>
                </a:solidFill>
                <a:latin typeface="Aptos"/>
              </a:rPr>
              <a:t>INDERPRASTHA ENGINEERING COLLEGE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58177"/>
            <a:ext cx="3390031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 dirty="0">
                <a:solidFill>
                  <a:srgbClr val="697380"/>
                </a:solidFill>
                <a:latin typeface="Aptos"/>
              </a:rPr>
              <a:t>Shaping Engineers and Leaders for Future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539" y="212096"/>
            <a:ext cx="88678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 dirty="0">
                <a:solidFill>
                  <a:schemeClr val="tx2"/>
                </a:solidFill>
                <a:latin typeface="Aptos"/>
              </a:rPr>
              <a:t>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768096"/>
            <a:ext cx="12191695" cy="41148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566928" y="952423"/>
            <a:ext cx="4991559" cy="6463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600" b="1">
                <a:solidFill>
                  <a:srgbClr val="122B4A"/>
                </a:solidFill>
                <a:latin typeface="Aptos"/>
              </a:rPr>
              <a:t>Presentation Roadmap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48640" cy="475488"/>
          </a:xfrm>
          <a:prstGeom prst="round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835797" y="1822442"/>
            <a:ext cx="431528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1789992"/>
            <a:ext cx="2552878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122B4A"/>
                </a:solidFill>
                <a:latin typeface="Aptos"/>
              </a:rPr>
              <a:t>Project Overview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783080"/>
            <a:ext cx="548640" cy="475488"/>
          </a:xfrm>
          <a:prstGeom prst="round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6459357" y="1822442"/>
            <a:ext cx="431528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0608" y="1789992"/>
            <a:ext cx="4741491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122B4A"/>
                </a:solidFill>
                <a:latin typeface="Aptos"/>
              </a:rPr>
              <a:t>Problem Statement &amp; Objectives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606040"/>
            <a:ext cx="548640" cy="475488"/>
          </a:xfrm>
          <a:prstGeom prst="round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835797" y="2645402"/>
            <a:ext cx="431528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7048" y="2612952"/>
            <a:ext cx="2562561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122B4A"/>
                </a:solidFill>
                <a:latin typeface="Aptos"/>
              </a:rPr>
              <a:t>Literature Survey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606040"/>
            <a:ext cx="548640" cy="475488"/>
          </a:xfrm>
          <a:prstGeom prst="round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6459357" y="2645402"/>
            <a:ext cx="431528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0608" y="2612952"/>
            <a:ext cx="3411255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122B4A"/>
                </a:solidFill>
                <a:latin typeface="Aptos"/>
              </a:rPr>
              <a:t>Proposed Methodology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429000"/>
            <a:ext cx="548640" cy="475488"/>
          </a:xfrm>
          <a:prstGeom prst="round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4" name="TextBox 23"/>
          <p:cNvSpPr txBox="1"/>
          <p:nvPr/>
        </p:nvSpPr>
        <p:spPr>
          <a:xfrm>
            <a:off x="835797" y="3468362"/>
            <a:ext cx="431528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7048" y="3435912"/>
            <a:ext cx="4616585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122B4A"/>
                </a:solidFill>
                <a:latin typeface="Aptos"/>
              </a:rPr>
              <a:t>System Architecture / Workflow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429000"/>
            <a:ext cx="548640" cy="475488"/>
          </a:xfrm>
          <a:prstGeom prst="round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TextBox 26"/>
          <p:cNvSpPr txBox="1"/>
          <p:nvPr/>
        </p:nvSpPr>
        <p:spPr>
          <a:xfrm>
            <a:off x="6459357" y="3468362"/>
            <a:ext cx="431528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0608" y="3435912"/>
            <a:ext cx="3997120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122B4A"/>
                </a:solidFill>
                <a:latin typeface="Aptos"/>
              </a:rPr>
              <a:t>Implementation &amp; Progress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251960"/>
            <a:ext cx="548640" cy="475488"/>
          </a:xfrm>
          <a:prstGeom prst="round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TextBox 29"/>
          <p:cNvSpPr txBox="1"/>
          <p:nvPr/>
        </p:nvSpPr>
        <p:spPr>
          <a:xfrm>
            <a:off x="835797" y="4291322"/>
            <a:ext cx="431528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7048" y="4258872"/>
            <a:ext cx="2973506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122B4A"/>
                </a:solidFill>
                <a:latin typeface="Aptos"/>
              </a:rPr>
              <a:t>Results / Evaluation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251960"/>
            <a:ext cx="548640" cy="475488"/>
          </a:xfrm>
          <a:prstGeom prst="round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3" name="TextBox 32"/>
          <p:cNvSpPr txBox="1"/>
          <p:nvPr/>
        </p:nvSpPr>
        <p:spPr>
          <a:xfrm>
            <a:off x="6459357" y="4291322"/>
            <a:ext cx="431528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50608" y="4258872"/>
            <a:ext cx="3810530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122B4A"/>
                </a:solidFill>
                <a:latin typeface="Aptos"/>
              </a:rPr>
              <a:t>Challenges &amp; Future Work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5074920"/>
            <a:ext cx="548640" cy="475488"/>
          </a:xfrm>
          <a:prstGeom prst="round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6" name="TextBox 35"/>
          <p:cNvSpPr txBox="1"/>
          <p:nvPr/>
        </p:nvSpPr>
        <p:spPr>
          <a:xfrm>
            <a:off x="835797" y="5114281"/>
            <a:ext cx="431528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7048" y="5081832"/>
            <a:ext cx="3484287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122B4A"/>
                </a:solidFill>
                <a:latin typeface="Aptos"/>
              </a:rPr>
              <a:t>Timeline &amp; Deliverables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5074920"/>
            <a:ext cx="548640" cy="475488"/>
          </a:xfrm>
          <a:prstGeom prst="round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9" name="TextBox 38"/>
          <p:cNvSpPr txBox="1"/>
          <p:nvPr/>
        </p:nvSpPr>
        <p:spPr>
          <a:xfrm>
            <a:off x="6459357" y="5114281"/>
            <a:ext cx="431528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50608" y="5081832"/>
            <a:ext cx="1790875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122B4A"/>
                </a:solidFill>
                <a:latin typeface="Aptos"/>
              </a:rPr>
              <a:t>Conclusion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B4A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2" name="TextBox 41"/>
          <p:cNvSpPr txBox="1"/>
          <p:nvPr/>
        </p:nvSpPr>
        <p:spPr>
          <a:xfrm>
            <a:off x="411480" y="6535172"/>
            <a:ext cx="2699778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PROJECT REVIEW PRESENTATION  |  IPEC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98592" y="6535172"/>
            <a:ext cx="260008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pic>
        <p:nvPicPr>
          <p:cNvPr id="45" name="Picture 44" descr="Best Engineering College in Ghaziabad | B.Tech, MBA, MCA ...">
            <a:extLst>
              <a:ext uri="{FF2B5EF4-FFF2-40B4-BE49-F238E27FC236}">
                <a16:creationId xmlns:a16="http://schemas.microsoft.com/office/drawing/2014/main" id="{D04FF750-67BF-68CF-00F3-7484C233E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7" y="49643"/>
            <a:ext cx="891414" cy="8566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" y="-14721"/>
            <a:ext cx="6824176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 dirty="0">
                <a:solidFill>
                  <a:srgbClr val="122B4A"/>
                </a:solidFill>
                <a:latin typeface="Aptos"/>
              </a:rPr>
              <a:t>INDERPRASTHA ENGINEERING COLLEGE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58177"/>
            <a:ext cx="3390031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 dirty="0">
                <a:solidFill>
                  <a:srgbClr val="697380"/>
                </a:solidFill>
                <a:latin typeface="Aptos"/>
              </a:rPr>
              <a:t>Shaping Engineers and Leaders for Future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56148" y="204402"/>
            <a:ext cx="348172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 dirty="0">
                <a:solidFill>
                  <a:schemeClr val="tx2"/>
                </a:solidFill>
                <a:latin typeface="Aptos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768096"/>
            <a:ext cx="12191695" cy="41148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566928" y="921646"/>
            <a:ext cx="4134337" cy="70788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000" b="1">
                <a:solidFill>
                  <a:srgbClr val="122B4A"/>
                </a:solidFill>
                <a:latin typeface="Aptos"/>
              </a:rPr>
              <a:t>Project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66994"/>
            <a:ext cx="1441420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dirty="0">
                <a:solidFill>
                  <a:schemeClr val="tx2"/>
                </a:solidFill>
                <a:latin typeface="Aptos"/>
              </a:rPr>
              <a:t>Project Title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673352"/>
            <a:ext cx="85039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TextBox 12"/>
          <p:cNvSpPr txBox="1"/>
          <p:nvPr/>
        </p:nvSpPr>
        <p:spPr>
          <a:xfrm>
            <a:off x="2971800" y="1620828"/>
            <a:ext cx="3760068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0">
                <a:solidFill>
                  <a:srgbClr val="697380"/>
                </a:solidFill>
                <a:latin typeface="Aptos"/>
              </a:rPr>
              <a:t>[Enter concise project title]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599682"/>
            <a:ext cx="1008609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>
                <a:solidFill>
                  <a:schemeClr val="tx2"/>
                </a:solidFill>
                <a:latin typeface="Aptos"/>
              </a:rPr>
              <a:t>Domain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2606040"/>
            <a:ext cx="85039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TextBox 15"/>
          <p:cNvSpPr txBox="1"/>
          <p:nvPr/>
        </p:nvSpPr>
        <p:spPr>
          <a:xfrm>
            <a:off x="2971800" y="2553516"/>
            <a:ext cx="4663521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0">
                <a:solidFill>
                  <a:srgbClr val="697380"/>
                </a:solidFill>
                <a:latin typeface="Aptos"/>
              </a:rPr>
              <a:t>[AI / ML / IoT / Cybersecurity / etc.]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532370"/>
            <a:ext cx="1914755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>
                <a:solidFill>
                  <a:schemeClr val="tx2"/>
                </a:solidFill>
                <a:latin typeface="Aptos"/>
              </a:rPr>
              <a:t>Application Area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3538728"/>
            <a:ext cx="85039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9" name="TextBox 18"/>
          <p:cNvSpPr txBox="1"/>
          <p:nvPr/>
        </p:nvSpPr>
        <p:spPr>
          <a:xfrm>
            <a:off x="2971800" y="3486204"/>
            <a:ext cx="3739485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0">
                <a:solidFill>
                  <a:srgbClr val="697380"/>
                </a:solidFill>
                <a:latin typeface="Aptos"/>
              </a:rPr>
              <a:t>[Specify target application]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465058"/>
            <a:ext cx="2016386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>
                <a:solidFill>
                  <a:schemeClr val="tx2"/>
                </a:solidFill>
                <a:latin typeface="Aptos"/>
              </a:rPr>
              <a:t>Technology Stack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4471416"/>
            <a:ext cx="85039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2" name="TextBox 21"/>
          <p:cNvSpPr txBox="1"/>
          <p:nvPr/>
        </p:nvSpPr>
        <p:spPr>
          <a:xfrm>
            <a:off x="2971800" y="4418892"/>
            <a:ext cx="4304512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0">
                <a:solidFill>
                  <a:srgbClr val="697380"/>
                </a:solidFill>
                <a:latin typeface="Aptos"/>
              </a:rPr>
              <a:t>[Python, Java, TensorFlow, etc.]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B4A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4" name="TextBox 23"/>
          <p:cNvSpPr txBox="1"/>
          <p:nvPr/>
        </p:nvSpPr>
        <p:spPr>
          <a:xfrm>
            <a:off x="411480" y="6535172"/>
            <a:ext cx="2699778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PROJECT REVIEW PRESENTATION  |  IPEC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98592" y="6535172"/>
            <a:ext cx="260008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pic>
        <p:nvPicPr>
          <p:cNvPr id="27" name="Picture 26" descr="Best Engineering College in Ghaziabad | B.Tech, MBA, MCA ...">
            <a:extLst>
              <a:ext uri="{FF2B5EF4-FFF2-40B4-BE49-F238E27FC236}">
                <a16:creationId xmlns:a16="http://schemas.microsoft.com/office/drawing/2014/main" id="{E369ADA4-4A30-7D07-FAE4-06AEF7888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7" y="49643"/>
            <a:ext cx="891414" cy="8566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TextBox 5"/>
          <p:cNvSpPr txBox="1"/>
          <p:nvPr/>
        </p:nvSpPr>
        <p:spPr>
          <a:xfrm>
            <a:off x="1170432" y="-14721"/>
            <a:ext cx="6824176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122B4A"/>
                </a:solidFill>
                <a:latin typeface="Aptos"/>
              </a:rPr>
              <a:t>INDERPRASTHA ENGINEERING COLLEGE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73566"/>
            <a:ext cx="2939266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97380"/>
                </a:solidFill>
                <a:latin typeface="Aptos"/>
              </a:rPr>
              <a:t>Shaping Engineers and Leaders for Future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56148" y="204402"/>
            <a:ext cx="348172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 dirty="0">
                <a:solidFill>
                  <a:schemeClr val="tx2"/>
                </a:solidFill>
                <a:latin typeface="Aptos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768096"/>
            <a:ext cx="12191695" cy="41148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566928" y="921646"/>
            <a:ext cx="7783028" cy="70788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000" b="1">
                <a:solidFill>
                  <a:srgbClr val="122B4A"/>
                </a:solidFill>
                <a:latin typeface="Aptos"/>
              </a:rPr>
              <a:t>Problem Statement &amp; Objectives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664208"/>
            <a:ext cx="54406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" name="Rounded Rectangle 11"/>
          <p:cNvSpPr/>
          <p:nvPr/>
        </p:nvSpPr>
        <p:spPr>
          <a:xfrm>
            <a:off x="6355080" y="1664208"/>
            <a:ext cx="51663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TextBox 12"/>
          <p:cNvSpPr txBox="1"/>
          <p:nvPr/>
        </p:nvSpPr>
        <p:spPr>
          <a:xfrm>
            <a:off x="960120" y="1831140"/>
            <a:ext cx="3263970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 dirty="0">
                <a:solidFill>
                  <a:schemeClr val="tx2"/>
                </a:solidFill>
                <a:latin typeface="Aptos"/>
              </a:rPr>
              <a:t>PROBLEM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331720"/>
            <a:ext cx="4754880" cy="142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3272C"/>
                </a:solidFill>
                <a:latin typeface="Aptos"/>
              </a:defRPr>
            </a:pPr>
            <a:r>
              <a:t>•  [What specific problem is being addressed?]</a:t>
            </a:r>
          </a:p>
          <a:p>
            <a:pPr>
              <a:spcAft>
                <a:spcPts val="900"/>
              </a:spcAft>
              <a:defRPr sz="1600">
                <a:solidFill>
                  <a:srgbClr val="23272C"/>
                </a:solidFill>
                <a:latin typeface="Aptos"/>
              </a:defRPr>
            </a:pPr>
            <a:r>
              <a:t>•  [Why is the problem important?]</a:t>
            </a:r>
          </a:p>
          <a:p>
            <a:pPr>
              <a:spcAft>
                <a:spcPts val="900"/>
              </a:spcAft>
              <a:defRPr sz="1600">
                <a:solidFill>
                  <a:srgbClr val="23272C"/>
                </a:solidFill>
                <a:latin typeface="Aptos"/>
              </a:defRPr>
            </a:pPr>
            <a:r>
              <a:t>•  [Existing limitation / research gap]</a:t>
            </a:r>
          </a:p>
          <a:p>
            <a:pPr>
              <a:spcAft>
                <a:spcPts val="900"/>
              </a:spcAft>
              <a:defRPr sz="1600">
                <a:solidFill>
                  <a:srgbClr val="23272C"/>
                </a:solidFill>
                <a:latin typeface="Aptos"/>
              </a:defRPr>
            </a:pPr>
            <a:r>
              <a:t>•  [Target users / system / environment]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1831140"/>
            <a:ext cx="1895647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chemeClr val="tx2"/>
                </a:solidFill>
                <a:latin typeface="Aptos"/>
              </a:rPr>
              <a:t>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331720"/>
            <a:ext cx="4480560" cy="142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3272C"/>
                </a:solidFill>
                <a:latin typeface="Aptos"/>
              </a:defRPr>
            </a:pPr>
            <a:r>
              <a:t>•  [Objective 1]</a:t>
            </a:r>
          </a:p>
          <a:p>
            <a:pPr>
              <a:spcAft>
                <a:spcPts val="900"/>
              </a:spcAft>
              <a:defRPr sz="1600">
                <a:solidFill>
                  <a:srgbClr val="23272C"/>
                </a:solidFill>
                <a:latin typeface="Aptos"/>
              </a:defRPr>
            </a:pPr>
            <a:r>
              <a:t>•  [Objective 2]</a:t>
            </a:r>
          </a:p>
          <a:p>
            <a:pPr>
              <a:spcAft>
                <a:spcPts val="900"/>
              </a:spcAft>
              <a:defRPr sz="1600">
                <a:solidFill>
                  <a:srgbClr val="23272C"/>
                </a:solidFill>
                <a:latin typeface="Aptos"/>
              </a:defRPr>
            </a:pPr>
            <a:r>
              <a:t>•  [Objective 3]</a:t>
            </a:r>
          </a:p>
          <a:p>
            <a:pPr>
              <a:spcAft>
                <a:spcPts val="900"/>
              </a:spcAft>
              <a:defRPr sz="1600">
                <a:solidFill>
                  <a:srgbClr val="23272C"/>
                </a:solidFill>
                <a:latin typeface="Aptos"/>
              </a:defRPr>
            </a:pPr>
            <a:r>
              <a:t>•  [Objective 4]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B4A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TextBox 17"/>
          <p:cNvSpPr txBox="1"/>
          <p:nvPr/>
        </p:nvSpPr>
        <p:spPr>
          <a:xfrm>
            <a:off x="411480" y="6535172"/>
            <a:ext cx="2699778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PROJECT REVIEW PRESENTATION  |  IPEC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98592" y="6535172"/>
            <a:ext cx="260008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pic>
        <p:nvPicPr>
          <p:cNvPr id="21" name="Picture 20" descr="Best Engineering College in Ghaziabad | B.Tech, MBA, MCA ...">
            <a:extLst>
              <a:ext uri="{FF2B5EF4-FFF2-40B4-BE49-F238E27FC236}">
                <a16:creationId xmlns:a16="http://schemas.microsoft.com/office/drawing/2014/main" id="{91C7F41A-1F9D-42E6-3F22-AAACE17C4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7" y="49643"/>
            <a:ext cx="891414" cy="8566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TextBox 5"/>
          <p:cNvSpPr txBox="1"/>
          <p:nvPr/>
        </p:nvSpPr>
        <p:spPr>
          <a:xfrm>
            <a:off x="1170432" y="-14721"/>
            <a:ext cx="6824176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122B4A"/>
                </a:solidFill>
                <a:latin typeface="Aptos"/>
              </a:rPr>
              <a:t>INDERPRASTHA ENGINEERING COLLEGE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73566"/>
            <a:ext cx="2939266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97380"/>
                </a:solidFill>
                <a:latin typeface="Aptos"/>
              </a:rPr>
              <a:t>Shaping Engineers and Leaders for Future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56148" y="204402"/>
            <a:ext cx="348172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 dirty="0">
                <a:solidFill>
                  <a:schemeClr val="tx2"/>
                </a:solidFill>
                <a:latin typeface="Aptos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768096"/>
            <a:ext cx="12191695" cy="41148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566928" y="921646"/>
            <a:ext cx="7966155" cy="70788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000" b="1">
                <a:solidFill>
                  <a:srgbClr val="122B4A"/>
                </a:solidFill>
                <a:latin typeface="Aptos"/>
              </a:rPr>
              <a:t>Literature Survey &amp; Research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885" y="1555593"/>
            <a:ext cx="1691232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Author /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2974" y="1555593"/>
            <a:ext cx="248369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Method / Technique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9490" y="1555593"/>
            <a:ext cx="1514261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Key Finding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79031" y="1555593"/>
            <a:ext cx="2050178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Limitation / Gap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1572768"/>
            <a:ext cx="2057400" cy="365760"/>
          </a:xfrm>
          <a:prstGeom prst="rect">
            <a:avLst/>
          </a:prstGeom>
          <a:solidFill>
            <a:srgbClr val="122B4A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Rectangle 15"/>
          <p:cNvSpPr/>
          <p:nvPr/>
        </p:nvSpPr>
        <p:spPr>
          <a:xfrm>
            <a:off x="2788920" y="1572768"/>
            <a:ext cx="2971800" cy="365760"/>
          </a:xfrm>
          <a:prstGeom prst="rect">
            <a:avLst/>
          </a:prstGeom>
          <a:solidFill>
            <a:srgbClr val="122B4A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" name="Rectangle 16"/>
          <p:cNvSpPr/>
          <p:nvPr/>
        </p:nvSpPr>
        <p:spPr>
          <a:xfrm>
            <a:off x="5806440" y="1572768"/>
            <a:ext cx="2880360" cy="365760"/>
          </a:xfrm>
          <a:prstGeom prst="rect">
            <a:avLst/>
          </a:prstGeom>
          <a:solidFill>
            <a:srgbClr val="122B4A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Rectangle 17"/>
          <p:cNvSpPr/>
          <p:nvPr/>
        </p:nvSpPr>
        <p:spPr>
          <a:xfrm>
            <a:off x="8732520" y="1572768"/>
            <a:ext cx="2743200" cy="365760"/>
          </a:xfrm>
          <a:prstGeom prst="rect">
            <a:avLst/>
          </a:prstGeom>
          <a:solidFill>
            <a:srgbClr val="122B4A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9" name="Rectangle 18"/>
          <p:cNvSpPr/>
          <p:nvPr/>
        </p:nvSpPr>
        <p:spPr>
          <a:xfrm>
            <a:off x="685800" y="1938528"/>
            <a:ext cx="20574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0" name="TextBox 19"/>
          <p:cNvSpPr txBox="1"/>
          <p:nvPr/>
        </p:nvSpPr>
        <p:spPr>
          <a:xfrm>
            <a:off x="882348" y="2095089"/>
            <a:ext cx="166430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0">
                <a:solidFill>
                  <a:srgbClr val="697380"/>
                </a:solidFill>
                <a:latin typeface="Aptos"/>
              </a:rPr>
              <a:t>[Author, Year]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88920" y="1938528"/>
            <a:ext cx="29718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2" name="TextBox 21"/>
          <p:cNvSpPr txBox="1"/>
          <p:nvPr/>
        </p:nvSpPr>
        <p:spPr>
          <a:xfrm>
            <a:off x="3683953" y="2095089"/>
            <a:ext cx="118173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0">
                <a:solidFill>
                  <a:srgbClr val="697380"/>
                </a:solidFill>
                <a:latin typeface="Aptos"/>
              </a:rPr>
              <a:t>[Method]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06440" y="1938528"/>
            <a:ext cx="28803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4" name="TextBox 23"/>
          <p:cNvSpPr txBox="1"/>
          <p:nvPr/>
        </p:nvSpPr>
        <p:spPr>
          <a:xfrm>
            <a:off x="6676943" y="2095089"/>
            <a:ext cx="1139351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0">
                <a:solidFill>
                  <a:srgbClr val="697380"/>
                </a:solidFill>
                <a:latin typeface="Aptos"/>
              </a:rPr>
              <a:t>[Finding]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32520" y="1938528"/>
            <a:ext cx="27432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6" name="TextBox 25"/>
          <p:cNvSpPr txBox="1"/>
          <p:nvPr/>
        </p:nvSpPr>
        <p:spPr>
          <a:xfrm>
            <a:off x="9381038" y="2095089"/>
            <a:ext cx="1446166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0">
                <a:solidFill>
                  <a:srgbClr val="697380"/>
                </a:solidFill>
                <a:latin typeface="Aptos"/>
              </a:rPr>
              <a:t>[Limitation]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2688336"/>
            <a:ext cx="20574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8" name="TextBox 27"/>
          <p:cNvSpPr txBox="1"/>
          <p:nvPr/>
        </p:nvSpPr>
        <p:spPr>
          <a:xfrm>
            <a:off x="882348" y="2844897"/>
            <a:ext cx="166430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0">
                <a:solidFill>
                  <a:srgbClr val="697380"/>
                </a:solidFill>
                <a:latin typeface="Aptos"/>
              </a:rPr>
              <a:t>[Author, Year]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2688336"/>
            <a:ext cx="29718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0" name="TextBox 29"/>
          <p:cNvSpPr txBox="1"/>
          <p:nvPr/>
        </p:nvSpPr>
        <p:spPr>
          <a:xfrm>
            <a:off x="3683953" y="2844897"/>
            <a:ext cx="118173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0">
                <a:solidFill>
                  <a:srgbClr val="697380"/>
                </a:solidFill>
                <a:latin typeface="Aptos"/>
              </a:rPr>
              <a:t>[Method]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06440" y="2688336"/>
            <a:ext cx="28803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2" name="TextBox 31"/>
          <p:cNvSpPr txBox="1"/>
          <p:nvPr/>
        </p:nvSpPr>
        <p:spPr>
          <a:xfrm>
            <a:off x="6676943" y="2844897"/>
            <a:ext cx="1139351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0">
                <a:solidFill>
                  <a:srgbClr val="697380"/>
                </a:solidFill>
                <a:latin typeface="Aptos"/>
              </a:rPr>
              <a:t>[Finding]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32520" y="2688336"/>
            <a:ext cx="27432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4" name="TextBox 33"/>
          <p:cNvSpPr txBox="1"/>
          <p:nvPr/>
        </p:nvSpPr>
        <p:spPr>
          <a:xfrm>
            <a:off x="9381038" y="2844897"/>
            <a:ext cx="1446166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0">
                <a:solidFill>
                  <a:srgbClr val="697380"/>
                </a:solidFill>
                <a:latin typeface="Aptos"/>
              </a:rPr>
              <a:t>[Limitation]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3438144"/>
            <a:ext cx="20574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6" name="TextBox 35"/>
          <p:cNvSpPr txBox="1"/>
          <p:nvPr/>
        </p:nvSpPr>
        <p:spPr>
          <a:xfrm>
            <a:off x="882348" y="3594705"/>
            <a:ext cx="166430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0">
                <a:solidFill>
                  <a:srgbClr val="697380"/>
                </a:solidFill>
                <a:latin typeface="Aptos"/>
              </a:rPr>
              <a:t>[Author, Year]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88920" y="3438144"/>
            <a:ext cx="29718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8" name="TextBox 37"/>
          <p:cNvSpPr txBox="1"/>
          <p:nvPr/>
        </p:nvSpPr>
        <p:spPr>
          <a:xfrm>
            <a:off x="3683953" y="3594705"/>
            <a:ext cx="118173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0">
                <a:solidFill>
                  <a:srgbClr val="697380"/>
                </a:solidFill>
                <a:latin typeface="Aptos"/>
              </a:rPr>
              <a:t>[Method]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06440" y="3438144"/>
            <a:ext cx="28803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0" name="TextBox 39"/>
          <p:cNvSpPr txBox="1"/>
          <p:nvPr/>
        </p:nvSpPr>
        <p:spPr>
          <a:xfrm>
            <a:off x="6676943" y="3594705"/>
            <a:ext cx="1139351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0">
                <a:solidFill>
                  <a:srgbClr val="697380"/>
                </a:solidFill>
                <a:latin typeface="Aptos"/>
              </a:rPr>
              <a:t>[Finding]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32520" y="3438144"/>
            <a:ext cx="27432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2" name="TextBox 41"/>
          <p:cNvSpPr txBox="1"/>
          <p:nvPr/>
        </p:nvSpPr>
        <p:spPr>
          <a:xfrm>
            <a:off x="9381038" y="3594705"/>
            <a:ext cx="1446166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0">
                <a:solidFill>
                  <a:srgbClr val="697380"/>
                </a:solidFill>
                <a:latin typeface="Aptos"/>
              </a:rPr>
              <a:t>[Limitation]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4187952"/>
            <a:ext cx="20574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4" name="TextBox 43"/>
          <p:cNvSpPr txBox="1"/>
          <p:nvPr/>
        </p:nvSpPr>
        <p:spPr>
          <a:xfrm>
            <a:off x="882348" y="4344513"/>
            <a:ext cx="166430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0">
                <a:solidFill>
                  <a:srgbClr val="697380"/>
                </a:solidFill>
                <a:latin typeface="Aptos"/>
              </a:rPr>
              <a:t>[Author, Year]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88920" y="4187952"/>
            <a:ext cx="29718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6" name="TextBox 45"/>
          <p:cNvSpPr txBox="1"/>
          <p:nvPr/>
        </p:nvSpPr>
        <p:spPr>
          <a:xfrm>
            <a:off x="3683953" y="4344513"/>
            <a:ext cx="118173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0">
                <a:solidFill>
                  <a:srgbClr val="697380"/>
                </a:solidFill>
                <a:latin typeface="Aptos"/>
              </a:rPr>
              <a:t>[Method]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06440" y="4187952"/>
            <a:ext cx="28803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8" name="TextBox 47"/>
          <p:cNvSpPr txBox="1"/>
          <p:nvPr/>
        </p:nvSpPr>
        <p:spPr>
          <a:xfrm>
            <a:off x="6676943" y="4344513"/>
            <a:ext cx="1139351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0">
                <a:solidFill>
                  <a:srgbClr val="697380"/>
                </a:solidFill>
                <a:latin typeface="Aptos"/>
              </a:rPr>
              <a:t>[Finding]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732520" y="4187952"/>
            <a:ext cx="27432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0" name="TextBox 49"/>
          <p:cNvSpPr txBox="1"/>
          <p:nvPr/>
        </p:nvSpPr>
        <p:spPr>
          <a:xfrm>
            <a:off x="9381038" y="4344513"/>
            <a:ext cx="1446166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0">
                <a:solidFill>
                  <a:srgbClr val="697380"/>
                </a:solidFill>
                <a:latin typeface="Aptos"/>
              </a:rPr>
              <a:t>[Limitation]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5159556"/>
            <a:ext cx="2236253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 dirty="0">
                <a:solidFill>
                  <a:schemeClr val="tx2"/>
                </a:solidFill>
                <a:latin typeface="Aptos"/>
              </a:rPr>
              <a:t>Research Gap: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65981" y="5236499"/>
            <a:ext cx="5621924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 dirty="0">
                <a:solidFill>
                  <a:srgbClr val="23272C"/>
                </a:solidFill>
                <a:latin typeface="Aptos"/>
              </a:rPr>
              <a:t>[Clearly state the unresolved gap that motivates the proposed project.]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B4A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4" name="TextBox 53"/>
          <p:cNvSpPr txBox="1"/>
          <p:nvPr/>
        </p:nvSpPr>
        <p:spPr>
          <a:xfrm>
            <a:off x="411480" y="6535172"/>
            <a:ext cx="2699778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PROJECT REVIEW PRESENTATION  |  IPEC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398592" y="6535172"/>
            <a:ext cx="260008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pic>
        <p:nvPicPr>
          <p:cNvPr id="57" name="Picture 56" descr="Best Engineering College in Ghaziabad | B.Tech, MBA, MCA ...">
            <a:extLst>
              <a:ext uri="{FF2B5EF4-FFF2-40B4-BE49-F238E27FC236}">
                <a16:creationId xmlns:a16="http://schemas.microsoft.com/office/drawing/2014/main" id="{B76C69B0-1306-EC98-9E5A-B429AB441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7" y="49643"/>
            <a:ext cx="891414" cy="8566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TextBox 5"/>
          <p:cNvSpPr txBox="1"/>
          <p:nvPr/>
        </p:nvSpPr>
        <p:spPr>
          <a:xfrm>
            <a:off x="1170432" y="-14721"/>
            <a:ext cx="6824176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122B4A"/>
                </a:solidFill>
                <a:latin typeface="Aptos"/>
              </a:rPr>
              <a:t>INDERPRASTHA ENGINEERING COLLEGE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73566"/>
            <a:ext cx="2939266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97380"/>
                </a:solidFill>
                <a:latin typeface="Aptos"/>
              </a:rPr>
              <a:t>Shaping Engineers and Leaders for Future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56148" y="204402"/>
            <a:ext cx="348172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chemeClr val="tx2"/>
                </a:solidFill>
                <a:latin typeface="Aptos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768096"/>
            <a:ext cx="12191695" cy="41148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566928" y="921646"/>
            <a:ext cx="5558573" cy="70788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000" b="1">
                <a:solidFill>
                  <a:srgbClr val="122B4A"/>
                </a:solidFill>
                <a:latin typeface="Aptos"/>
              </a:rPr>
              <a:t>Proposed Methodology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423160"/>
            <a:ext cx="1600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1156185" y="2048143"/>
            <a:ext cx="293670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chemeClr val="tx2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771" y="2689895"/>
            <a:ext cx="1402499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chemeClr val="tx2"/>
                </a:solidFill>
                <a:latin typeface="Aptos"/>
              </a:rPr>
              <a:t>Input /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7580" y="2570577"/>
            <a:ext cx="33855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chemeClr val="tx2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41448" y="2423160"/>
            <a:ext cx="1600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3094713" y="2048143"/>
            <a:ext cx="293670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chemeClr val="tx2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34111" y="2689895"/>
            <a:ext cx="1414875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chemeClr val="tx2"/>
                </a:solidFill>
                <a:latin typeface="Aptos"/>
              </a:rPr>
              <a:t>Pre-processing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46108" y="2570577"/>
            <a:ext cx="33855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chemeClr val="tx2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9976" y="2423160"/>
            <a:ext cx="1600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5033241" y="2048143"/>
            <a:ext cx="293670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chemeClr val="tx2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1350" y="2689895"/>
            <a:ext cx="1237454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chemeClr val="tx2"/>
                </a:solidFill>
                <a:latin typeface="Aptos"/>
              </a:rPr>
              <a:t>Core Method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4636" y="2570577"/>
            <a:ext cx="33855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chemeClr val="tx2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18504" y="2423160"/>
            <a:ext cx="1600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4" name="TextBox 23"/>
          <p:cNvSpPr txBox="1"/>
          <p:nvPr/>
        </p:nvSpPr>
        <p:spPr>
          <a:xfrm>
            <a:off x="6971769" y="2048143"/>
            <a:ext cx="293670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chemeClr val="tx2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5240" y="2689895"/>
            <a:ext cx="1866729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chemeClr val="tx2"/>
                </a:solidFill>
                <a:latin typeface="Aptos"/>
              </a:rPr>
              <a:t>Training / Processing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3164" y="2570577"/>
            <a:ext cx="33855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chemeClr val="tx2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57032" y="2423160"/>
            <a:ext cx="1600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8" name="TextBox 27"/>
          <p:cNvSpPr txBox="1"/>
          <p:nvPr/>
        </p:nvSpPr>
        <p:spPr>
          <a:xfrm>
            <a:off x="8910297" y="2048143"/>
            <a:ext cx="293670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chemeClr val="tx2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2918" y="2689895"/>
            <a:ext cx="1048428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chemeClr val="tx2"/>
                </a:solidFill>
                <a:latin typeface="Aptos"/>
              </a:rP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61692" y="2570577"/>
            <a:ext cx="33855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chemeClr val="tx2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95560" y="2423160"/>
            <a:ext cx="1600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2" name="TextBox 31"/>
          <p:cNvSpPr txBox="1"/>
          <p:nvPr/>
        </p:nvSpPr>
        <p:spPr>
          <a:xfrm>
            <a:off x="10848825" y="2048143"/>
            <a:ext cx="293670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chemeClr val="tx2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15588" y="2689895"/>
            <a:ext cx="760143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chemeClr val="tx2"/>
                </a:solidFill>
                <a:latin typeface="Aptos"/>
              </a:rPr>
              <a:t>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68705" y="4135874"/>
            <a:ext cx="9624109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0" dirty="0">
                <a:solidFill>
                  <a:srgbClr val="697380"/>
                </a:solidFill>
                <a:latin typeface="Aptos"/>
              </a:rPr>
              <a:t>[Replace the boxes above with your actual workflow, algorithms, modules, and decision points.]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B4A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6" name="TextBox 35"/>
          <p:cNvSpPr txBox="1"/>
          <p:nvPr/>
        </p:nvSpPr>
        <p:spPr>
          <a:xfrm>
            <a:off x="411480" y="6535172"/>
            <a:ext cx="2699778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PROJECT REVIEW PRESENTATION  |  IPEC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98592" y="6535172"/>
            <a:ext cx="260008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pic>
        <p:nvPicPr>
          <p:cNvPr id="39" name="Picture 38" descr="Best Engineering College in Ghaziabad | B.Tech, MBA, MCA ...">
            <a:extLst>
              <a:ext uri="{FF2B5EF4-FFF2-40B4-BE49-F238E27FC236}">
                <a16:creationId xmlns:a16="http://schemas.microsoft.com/office/drawing/2014/main" id="{978E8A39-72D2-B849-2D4E-9F1A7FBA2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7" y="49643"/>
            <a:ext cx="891414" cy="8566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TextBox 5"/>
          <p:cNvSpPr txBox="1"/>
          <p:nvPr/>
        </p:nvSpPr>
        <p:spPr>
          <a:xfrm>
            <a:off x="1170432" y="-14721"/>
            <a:ext cx="6824176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122B4A"/>
                </a:solidFill>
                <a:latin typeface="Aptos"/>
              </a:rPr>
              <a:t>INDERPRASTHA ENGINEERING COLLEGE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73566"/>
            <a:ext cx="2939266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97380"/>
                </a:solidFill>
                <a:latin typeface="Aptos"/>
              </a:rPr>
              <a:t>Shaping Engineers and Leaders for Future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56148" y="204402"/>
            <a:ext cx="348172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chemeClr val="tx2"/>
                </a:solidFill>
                <a:latin typeface="Aptos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768096"/>
            <a:ext cx="12191695" cy="41148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566928" y="921646"/>
            <a:ext cx="7572201" cy="70788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000" b="1">
                <a:solidFill>
                  <a:srgbClr val="122B4A"/>
                </a:solidFill>
                <a:latin typeface="Aptos"/>
              </a:rPr>
              <a:t>System Architecture /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600200"/>
            <a:ext cx="108356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1560" y="2148840"/>
            <a:ext cx="1874519" cy="777240"/>
          </a:xfrm>
          <a:prstGeom prst="roundRect">
            <a:avLst/>
          </a:prstGeom>
          <a:solidFill>
            <a:srgbClr val="F6F7F9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2313432"/>
            <a:ext cx="1874519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22B4A"/>
                </a:solidFill>
                <a:latin typeface="Aptos"/>
              </a:rPr>
              <a:t>INPUT /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2148840"/>
            <a:ext cx="1874519" cy="777240"/>
          </a:xfrm>
          <a:prstGeom prst="roundRect">
            <a:avLst/>
          </a:prstGeom>
          <a:solidFill>
            <a:srgbClr val="F6F7F9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0" y="2313432"/>
            <a:ext cx="1874519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22B4A"/>
                </a:solidFill>
                <a:latin typeface="Aptos"/>
              </a:rPr>
              <a:t>MODULE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148840"/>
            <a:ext cx="1874519" cy="777240"/>
          </a:xfrm>
          <a:prstGeom prst="roundRect">
            <a:avLst/>
          </a:prstGeom>
          <a:solidFill>
            <a:srgbClr val="F6F7F9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2313432"/>
            <a:ext cx="1874519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22B4A"/>
                </a:solidFill>
                <a:latin typeface="Aptos"/>
              </a:rPr>
              <a:t>MODULE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2148840"/>
            <a:ext cx="1874519" cy="777240"/>
          </a:xfrm>
          <a:prstGeom prst="roundRect">
            <a:avLst/>
          </a:prstGeom>
          <a:solidFill>
            <a:srgbClr val="F6F7F9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0" y="2313432"/>
            <a:ext cx="1874519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22B4A"/>
                </a:solidFill>
                <a:latin typeface="Aptos"/>
              </a:rP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44368" y="2359152"/>
            <a:ext cx="502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A6232D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50408" y="2359152"/>
            <a:ext cx="502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A6232D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6448" y="2359152"/>
            <a:ext cx="502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A6232D"/>
                </a:solidFill>
                <a:latin typeface="Apto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794760"/>
            <a:ext cx="96012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0">
                <a:solidFill>
                  <a:srgbClr val="697380"/>
                </a:solidFill>
                <a:latin typeface="Aptos"/>
              </a:rPr>
              <a:t>[Insert architecture diagram, flowchart, UML, block diagram, or pipeline here]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B4A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5" name="TextBox 24"/>
          <p:cNvSpPr txBox="1"/>
          <p:nvPr/>
        </p:nvSpPr>
        <p:spPr>
          <a:xfrm>
            <a:off x="411480" y="6535172"/>
            <a:ext cx="2699778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PROJECT REVIEW PRESENTATION  |  IPEC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98592" y="6535172"/>
            <a:ext cx="260008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pic>
        <p:nvPicPr>
          <p:cNvPr id="28" name="Picture 27" descr="Best Engineering College in Ghaziabad | B.Tech, MBA, MCA ...">
            <a:extLst>
              <a:ext uri="{FF2B5EF4-FFF2-40B4-BE49-F238E27FC236}">
                <a16:creationId xmlns:a16="http://schemas.microsoft.com/office/drawing/2014/main" id="{CB5BE47E-BBF3-E8F5-C6A9-F0171A046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7" y="49643"/>
            <a:ext cx="891414" cy="8566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TextBox 5"/>
          <p:cNvSpPr txBox="1"/>
          <p:nvPr/>
        </p:nvSpPr>
        <p:spPr>
          <a:xfrm>
            <a:off x="1170432" y="-14721"/>
            <a:ext cx="6824176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122B4A"/>
                </a:solidFill>
                <a:latin typeface="Aptos"/>
              </a:rPr>
              <a:t>INDERPRASTHA ENGINEERING COLLEGE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73566"/>
            <a:ext cx="2939266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97380"/>
                </a:solidFill>
                <a:latin typeface="Aptos"/>
              </a:rPr>
              <a:t>Shaping Engineers and Leaders for Future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56148" y="204402"/>
            <a:ext cx="348172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 dirty="0">
                <a:solidFill>
                  <a:schemeClr val="tx2"/>
                </a:solidFill>
                <a:latin typeface="Aptos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768096"/>
            <a:ext cx="12191695" cy="41148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566928" y="921646"/>
            <a:ext cx="8444235" cy="70788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000" b="1">
                <a:solidFill>
                  <a:srgbClr val="122B4A"/>
                </a:solidFill>
                <a:latin typeface="Aptos"/>
              </a:rPr>
              <a:t>Implementation &amp; Current Progress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572768"/>
            <a:ext cx="2240280" cy="502920"/>
          </a:xfrm>
          <a:prstGeom prst="roundRect">
            <a:avLst/>
          </a:prstGeom>
          <a:solidFill>
            <a:srgbClr val="122B4A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" name="TextBox 11"/>
          <p:cNvSpPr txBox="1"/>
          <p:nvPr/>
        </p:nvSpPr>
        <p:spPr>
          <a:xfrm>
            <a:off x="889538" y="1610457"/>
            <a:ext cx="1924245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Dataset / Input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1572768"/>
            <a:ext cx="8183879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3"/>
          <p:cNvSpPr txBox="1"/>
          <p:nvPr/>
        </p:nvSpPr>
        <p:spPr>
          <a:xfrm>
            <a:off x="3383280" y="1610457"/>
            <a:ext cx="391748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0">
                <a:solidFill>
                  <a:srgbClr val="697380"/>
                </a:solidFill>
                <a:latin typeface="Aptos"/>
              </a:rPr>
              <a:t>[Dataset name, size, source, split]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359152"/>
            <a:ext cx="2240280" cy="502920"/>
          </a:xfrm>
          <a:prstGeom prst="roundRect">
            <a:avLst/>
          </a:prstGeom>
          <a:solidFill>
            <a:srgbClr val="122B4A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TextBox 15"/>
          <p:cNvSpPr txBox="1"/>
          <p:nvPr/>
        </p:nvSpPr>
        <p:spPr>
          <a:xfrm>
            <a:off x="972350" y="2396841"/>
            <a:ext cx="175862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Development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80" y="2359152"/>
            <a:ext cx="8183879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TextBox 17"/>
          <p:cNvSpPr txBox="1"/>
          <p:nvPr/>
        </p:nvSpPr>
        <p:spPr>
          <a:xfrm>
            <a:off x="3383280" y="2396841"/>
            <a:ext cx="5520101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0">
                <a:solidFill>
                  <a:srgbClr val="697380"/>
                </a:solidFill>
                <a:latin typeface="Aptos"/>
              </a:rPr>
              <a:t>[Modules implemented / percentage completed]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145536"/>
            <a:ext cx="2240280" cy="502920"/>
          </a:xfrm>
          <a:prstGeom prst="roundRect">
            <a:avLst/>
          </a:prstGeom>
          <a:solidFill>
            <a:srgbClr val="122B4A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0" name="TextBox 19"/>
          <p:cNvSpPr txBox="1"/>
          <p:nvPr/>
        </p:nvSpPr>
        <p:spPr>
          <a:xfrm>
            <a:off x="1122102" y="3183225"/>
            <a:ext cx="1459117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Algorithms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54680" y="3145536"/>
            <a:ext cx="8183879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2" name="TextBox 21"/>
          <p:cNvSpPr txBox="1"/>
          <p:nvPr/>
        </p:nvSpPr>
        <p:spPr>
          <a:xfrm>
            <a:off x="3383280" y="3183225"/>
            <a:ext cx="4241995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0">
                <a:solidFill>
                  <a:srgbClr val="697380"/>
                </a:solidFill>
                <a:latin typeface="Aptos"/>
              </a:rPr>
              <a:t>[Algorithms / models / libraries used]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931920"/>
            <a:ext cx="2240280" cy="502920"/>
          </a:xfrm>
          <a:prstGeom prst="roundRect">
            <a:avLst/>
          </a:prstGeom>
          <a:solidFill>
            <a:srgbClr val="122B4A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4" name="TextBox 23"/>
          <p:cNvSpPr txBox="1"/>
          <p:nvPr/>
        </p:nvSpPr>
        <p:spPr>
          <a:xfrm>
            <a:off x="1189716" y="3969608"/>
            <a:ext cx="1323889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Hardware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54680" y="3931920"/>
            <a:ext cx="8183879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6" name="TextBox 25"/>
          <p:cNvSpPr txBox="1"/>
          <p:nvPr/>
        </p:nvSpPr>
        <p:spPr>
          <a:xfrm>
            <a:off x="3383280" y="3969608"/>
            <a:ext cx="3816045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0">
                <a:solidFill>
                  <a:srgbClr val="697380"/>
                </a:solidFill>
                <a:latin typeface="Aptos"/>
              </a:rPr>
              <a:t>[CPU / GPU / RAM / environment]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718304"/>
            <a:ext cx="2240280" cy="502920"/>
          </a:xfrm>
          <a:prstGeom prst="roundRect">
            <a:avLst/>
          </a:prstGeom>
          <a:solidFill>
            <a:srgbClr val="122B4A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8" name="TextBox 27"/>
          <p:cNvSpPr txBox="1"/>
          <p:nvPr/>
        </p:nvSpPr>
        <p:spPr>
          <a:xfrm>
            <a:off x="904157" y="4755993"/>
            <a:ext cx="1895006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Current Status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54680" y="4718304"/>
            <a:ext cx="8183879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0" name="TextBox 29"/>
          <p:cNvSpPr txBox="1"/>
          <p:nvPr/>
        </p:nvSpPr>
        <p:spPr>
          <a:xfrm>
            <a:off x="3383280" y="4755993"/>
            <a:ext cx="518507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0">
                <a:solidFill>
                  <a:srgbClr val="697380"/>
                </a:solidFill>
                <a:latin typeface="Aptos"/>
              </a:rPr>
              <a:t>[Completed / ongoing / pending components]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B4A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2" name="TextBox 31"/>
          <p:cNvSpPr txBox="1"/>
          <p:nvPr/>
        </p:nvSpPr>
        <p:spPr>
          <a:xfrm>
            <a:off x="411480" y="6535172"/>
            <a:ext cx="2699778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PROJECT REVIEW PRESENTATION  |  IPEC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98593" y="6535172"/>
            <a:ext cx="260007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pic>
        <p:nvPicPr>
          <p:cNvPr id="35" name="Picture 34" descr="Best Engineering College in Ghaziabad | B.Tech, MBA, MCA ...">
            <a:extLst>
              <a:ext uri="{FF2B5EF4-FFF2-40B4-BE49-F238E27FC236}">
                <a16:creationId xmlns:a16="http://schemas.microsoft.com/office/drawing/2014/main" id="{AB69DD17-A638-1750-51BF-30109707B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7" y="49643"/>
            <a:ext cx="891414" cy="8566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TextBox 5"/>
          <p:cNvSpPr txBox="1"/>
          <p:nvPr/>
        </p:nvSpPr>
        <p:spPr>
          <a:xfrm>
            <a:off x="1170432" y="-14721"/>
            <a:ext cx="6824176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122B4A"/>
                </a:solidFill>
                <a:latin typeface="Aptos"/>
              </a:rPr>
              <a:t>INDERPRASTHA ENGINEERING COLLEGE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73566"/>
            <a:ext cx="2939266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97380"/>
                </a:solidFill>
                <a:latin typeface="Aptos"/>
              </a:rPr>
              <a:t>Shaping Engineers and Leaders for Future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56148" y="204402"/>
            <a:ext cx="348172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 dirty="0">
                <a:solidFill>
                  <a:schemeClr val="tx2"/>
                </a:solidFill>
                <a:latin typeface="Aptos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768096"/>
            <a:ext cx="12191695" cy="41148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566928" y="921646"/>
            <a:ext cx="4833759" cy="70788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000" b="1">
                <a:solidFill>
                  <a:srgbClr val="122B4A"/>
                </a:solidFill>
                <a:latin typeface="Aptos"/>
              </a:rPr>
              <a:t>Results / Evaluation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572768"/>
            <a:ext cx="65379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" name="TextBox 11"/>
          <p:cNvSpPr txBox="1"/>
          <p:nvPr/>
        </p:nvSpPr>
        <p:spPr>
          <a:xfrm>
            <a:off x="1325278" y="1776276"/>
            <a:ext cx="5259005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chemeClr val="tx2"/>
                </a:solidFill>
                <a:latin typeface="Aptos"/>
              </a:rPr>
              <a:t>RESULTS / GRAPHS / SCREENSHOTS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49" y="3412271"/>
            <a:ext cx="6993260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 dirty="0">
                <a:solidFill>
                  <a:srgbClr val="697380"/>
                </a:solidFill>
                <a:latin typeface="Aptos"/>
              </a:rPr>
              <a:t>[Insert chart, output image, confusion matrix, performance graph, or system screenshot]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572768"/>
            <a:ext cx="40233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5" name="TextBox 14"/>
          <p:cNvSpPr txBox="1"/>
          <p:nvPr/>
        </p:nvSpPr>
        <p:spPr>
          <a:xfrm>
            <a:off x="8475919" y="1776276"/>
            <a:ext cx="2067682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chemeClr val="tx2"/>
                </a:solidFill>
                <a:latin typeface="Aptos"/>
              </a:rPr>
              <a:t>KEY 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460850"/>
            <a:ext cx="112242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chemeClr val="tx2"/>
                </a:solidFill>
                <a:latin typeface="Aptos"/>
              </a:rPr>
              <a:t>Metric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42031" y="2460850"/>
            <a:ext cx="930769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2000" b="0">
                <a:solidFill>
                  <a:schemeClr val="tx2"/>
                </a:solidFill>
                <a:latin typeface="Aptos"/>
              </a:rPr>
              <a:t>[value]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3100930"/>
            <a:ext cx="112242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122B4A"/>
                </a:solidFill>
                <a:latin typeface="Aptos"/>
              </a:rPr>
              <a:t>Metric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42031" y="3100930"/>
            <a:ext cx="930769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2000" b="0">
                <a:solidFill>
                  <a:srgbClr val="23272C"/>
                </a:solidFill>
                <a:latin typeface="Aptos"/>
              </a:rPr>
              <a:t>[value]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3741010"/>
            <a:ext cx="112242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122B4A"/>
                </a:solidFill>
                <a:latin typeface="Aptos"/>
              </a:rPr>
              <a:t>Metric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031" y="3741010"/>
            <a:ext cx="930769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2000" b="0">
                <a:solidFill>
                  <a:srgbClr val="23272C"/>
                </a:solidFill>
                <a:latin typeface="Aptos"/>
              </a:rPr>
              <a:t>[value]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4381090"/>
            <a:ext cx="112242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122B4A"/>
                </a:solidFill>
                <a:latin typeface="Aptos"/>
              </a:rPr>
              <a:t>Metric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42031" y="4381090"/>
            <a:ext cx="930769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2000" b="0">
                <a:solidFill>
                  <a:srgbClr val="23272C"/>
                </a:solidFill>
                <a:latin typeface="Aptos"/>
              </a:rPr>
              <a:t>[value]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B4A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5" name="TextBox 24"/>
          <p:cNvSpPr txBox="1"/>
          <p:nvPr/>
        </p:nvSpPr>
        <p:spPr>
          <a:xfrm>
            <a:off x="411480" y="6535172"/>
            <a:ext cx="2699778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PROJECT REVIEW PRESENTATION  |  IPEC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98592" y="6535172"/>
            <a:ext cx="260008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pic>
        <p:nvPicPr>
          <p:cNvPr id="28" name="Picture 27" descr="Best Engineering College in Ghaziabad | B.Tech, MBA, MCA ...">
            <a:extLst>
              <a:ext uri="{FF2B5EF4-FFF2-40B4-BE49-F238E27FC236}">
                <a16:creationId xmlns:a16="http://schemas.microsoft.com/office/drawing/2014/main" id="{F06FF0C2-3B1C-16C3-EC4D-AE70290D3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7" y="49643"/>
            <a:ext cx="891414" cy="8566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TextBox 5"/>
          <p:cNvSpPr txBox="1"/>
          <p:nvPr/>
        </p:nvSpPr>
        <p:spPr>
          <a:xfrm>
            <a:off x="1170432" y="-14721"/>
            <a:ext cx="6824176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122B4A"/>
                </a:solidFill>
                <a:latin typeface="Aptos"/>
              </a:rPr>
              <a:t>INDERPRASTHA ENGINEERING COLLEGE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73566"/>
            <a:ext cx="2939266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97380"/>
                </a:solidFill>
                <a:latin typeface="Aptos"/>
              </a:rPr>
              <a:t>Shaping Engineers and Leaders for Future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56148" y="204402"/>
            <a:ext cx="348172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 dirty="0">
                <a:solidFill>
                  <a:schemeClr val="tx2"/>
                </a:solidFill>
                <a:latin typeface="Aptos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768096"/>
            <a:ext cx="12191695" cy="41148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566928" y="921646"/>
            <a:ext cx="9108134" cy="70788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000" b="1">
                <a:solidFill>
                  <a:srgbClr val="122B4A"/>
                </a:solidFill>
                <a:latin typeface="Aptos"/>
              </a:rPr>
              <a:t>Challenges, Limitations &amp; Future 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627632"/>
            <a:ext cx="534924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" name="Rounded Rectangle 11"/>
          <p:cNvSpPr/>
          <p:nvPr/>
        </p:nvSpPr>
        <p:spPr>
          <a:xfrm>
            <a:off x="6172200" y="1627632"/>
            <a:ext cx="534924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TextBox 12"/>
          <p:cNvSpPr txBox="1"/>
          <p:nvPr/>
        </p:nvSpPr>
        <p:spPr>
          <a:xfrm>
            <a:off x="563705" y="1895147"/>
            <a:ext cx="5584286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chemeClr val="tx2"/>
                </a:solidFill>
                <a:latin typeface="Aptos"/>
              </a:rPr>
              <a:t>CURRENT CHALLENGES / 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514600"/>
            <a:ext cx="4663440" cy="142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3272C"/>
                </a:solidFill>
                <a:latin typeface="Aptos"/>
              </a:defRPr>
            </a:pPr>
            <a:r>
              <a:t>•  [Challenge 1]</a:t>
            </a:r>
          </a:p>
          <a:p>
            <a:pPr>
              <a:spcAft>
                <a:spcPts val="900"/>
              </a:spcAft>
              <a:defRPr sz="1600">
                <a:solidFill>
                  <a:srgbClr val="23272C"/>
                </a:solidFill>
                <a:latin typeface="Aptos"/>
              </a:defRPr>
            </a:pPr>
            <a:r>
              <a:t>•  [Challenge 2]</a:t>
            </a:r>
          </a:p>
          <a:p>
            <a:pPr>
              <a:spcAft>
                <a:spcPts val="900"/>
              </a:spcAft>
              <a:defRPr sz="1600">
                <a:solidFill>
                  <a:srgbClr val="23272C"/>
                </a:solidFill>
                <a:latin typeface="Aptos"/>
              </a:defRPr>
            </a:pPr>
            <a:r>
              <a:t>•  [Limitation 1]</a:t>
            </a:r>
          </a:p>
          <a:p>
            <a:pPr>
              <a:spcAft>
                <a:spcPts val="900"/>
              </a:spcAft>
              <a:defRPr sz="1600">
                <a:solidFill>
                  <a:srgbClr val="23272C"/>
                </a:solidFill>
                <a:latin typeface="Aptos"/>
              </a:defRPr>
            </a:pPr>
            <a:r>
              <a:t>•  [Limitation 2]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6425" y="1895147"/>
            <a:ext cx="2271649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chemeClr val="tx2"/>
                </a:solidFill>
                <a:latin typeface="Aptos"/>
              </a:rPr>
              <a:t>FUTURE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514600"/>
            <a:ext cx="4663440" cy="142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3272C"/>
                </a:solidFill>
                <a:latin typeface="Aptos"/>
              </a:defRPr>
            </a:pPr>
            <a:r>
              <a:t>•  [Future enhancement 1]</a:t>
            </a:r>
          </a:p>
          <a:p>
            <a:pPr>
              <a:spcAft>
                <a:spcPts val="900"/>
              </a:spcAft>
              <a:defRPr sz="1600">
                <a:solidFill>
                  <a:srgbClr val="23272C"/>
                </a:solidFill>
                <a:latin typeface="Aptos"/>
              </a:defRPr>
            </a:pPr>
            <a:r>
              <a:t>•  [Future enhancement 2]</a:t>
            </a:r>
          </a:p>
          <a:p>
            <a:pPr>
              <a:spcAft>
                <a:spcPts val="900"/>
              </a:spcAft>
              <a:defRPr sz="1600">
                <a:solidFill>
                  <a:srgbClr val="23272C"/>
                </a:solidFill>
                <a:latin typeface="Aptos"/>
              </a:defRPr>
            </a:pPr>
            <a:r>
              <a:t>•  [Additional evaluation]</a:t>
            </a:r>
          </a:p>
          <a:p>
            <a:pPr>
              <a:spcAft>
                <a:spcPts val="900"/>
              </a:spcAft>
              <a:defRPr sz="1600">
                <a:solidFill>
                  <a:srgbClr val="23272C"/>
                </a:solidFill>
                <a:latin typeface="Aptos"/>
              </a:defRPr>
            </a:pPr>
            <a:r>
              <a:t>•  [Deployment / publication / extension]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B4A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TextBox 17"/>
          <p:cNvSpPr txBox="1"/>
          <p:nvPr/>
        </p:nvSpPr>
        <p:spPr>
          <a:xfrm>
            <a:off x="411480" y="6535172"/>
            <a:ext cx="2699778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PROJECT REVIEW PRESENTATION  |  IPEC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23252" y="6535172"/>
            <a:ext cx="335348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pic>
        <p:nvPicPr>
          <p:cNvPr id="21" name="Picture 20" descr="Best Engineering College in Ghaziabad | B.Tech, MBA, MCA ...">
            <a:extLst>
              <a:ext uri="{FF2B5EF4-FFF2-40B4-BE49-F238E27FC236}">
                <a16:creationId xmlns:a16="http://schemas.microsoft.com/office/drawing/2014/main" id="{7D8D5A18-CE06-99A0-C616-7D85C6F2C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7" y="49643"/>
            <a:ext cx="891414" cy="8566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TextBox 5"/>
          <p:cNvSpPr txBox="1"/>
          <p:nvPr/>
        </p:nvSpPr>
        <p:spPr>
          <a:xfrm>
            <a:off x="1170432" y="-14721"/>
            <a:ext cx="6824176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122B4A"/>
                </a:solidFill>
                <a:latin typeface="Aptos"/>
              </a:rPr>
              <a:t>INDERPRASTHA ENGINEERING COLLEGE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73566"/>
            <a:ext cx="2939266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97380"/>
                </a:solidFill>
                <a:latin typeface="Aptos"/>
              </a:rPr>
              <a:t>Shaping Engineers and Leaders for Future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56148" y="204402"/>
            <a:ext cx="348172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 dirty="0">
                <a:solidFill>
                  <a:schemeClr val="tx2"/>
                </a:solidFill>
                <a:latin typeface="Aptos"/>
              </a:rP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768096"/>
            <a:ext cx="12191695" cy="41148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566928" y="921646"/>
            <a:ext cx="5685146" cy="70788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000" b="1">
                <a:solidFill>
                  <a:srgbClr val="122B4A"/>
                </a:solidFill>
                <a:latin typeface="Aptos"/>
              </a:rPr>
              <a:t>Timeline &amp; Deliverables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6063628"/>
            <a:ext cx="10807061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 dirty="0">
                <a:solidFill>
                  <a:srgbClr val="122B4A"/>
                </a:solidFill>
                <a:latin typeface="Aptos"/>
              </a:rPr>
              <a:t>Deliverables:  [Synopsis]   [Implementation]   [Testing]   [Final Report]   [Presentation/Demo]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B4A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5" name="TextBox 54"/>
          <p:cNvSpPr txBox="1"/>
          <p:nvPr/>
        </p:nvSpPr>
        <p:spPr>
          <a:xfrm>
            <a:off x="411480" y="6535172"/>
            <a:ext cx="2699778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PROJECT REVIEW PRESENTATION  |  IPEC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323252" y="6535172"/>
            <a:ext cx="335348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pic>
        <p:nvPicPr>
          <p:cNvPr id="58" name="Picture 57" descr="Best Engineering College in Ghaziabad | B.Tech, MBA, MCA ...">
            <a:extLst>
              <a:ext uri="{FF2B5EF4-FFF2-40B4-BE49-F238E27FC236}">
                <a16:creationId xmlns:a16="http://schemas.microsoft.com/office/drawing/2014/main" id="{58C8A874-B693-A067-A8B4-BA972BF11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7" y="49643"/>
            <a:ext cx="891414" cy="856683"/>
          </a:xfrm>
          <a:prstGeom prst="rect">
            <a:avLst/>
          </a:prstGeom>
        </p:spPr>
      </p:pic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87EA10F7-95F6-A015-B11B-F4012BCA0F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831760"/>
              </p:ext>
            </p:extLst>
          </p:nvPr>
        </p:nvGraphicFramePr>
        <p:xfrm>
          <a:off x="1188720" y="1501848"/>
          <a:ext cx="7996842" cy="4490353"/>
        </p:xfrm>
        <a:graphic>
          <a:graphicData uri="http://schemas.openxmlformats.org/drawingml/2006/table">
            <a:tbl>
              <a:tblPr/>
              <a:tblGrid>
                <a:gridCol w="3040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120">
                  <a:extLst>
                    <a:ext uri="{9D8B030D-6E8A-4147-A177-3AD203B41FA5}">
                      <a16:colId xmlns:a16="http://schemas.microsoft.com/office/drawing/2014/main" val="4192598257"/>
                    </a:ext>
                  </a:extLst>
                </a:gridCol>
                <a:gridCol w="82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6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6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6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41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SEMESTER 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Semester 8</a:t>
                      </a: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21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Semesters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JULY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atin typeface="Arial" charset="0"/>
                          <a:ea typeface="Arial" charset="0"/>
                          <a:cs typeface="Arial" charset="0"/>
                        </a:rPr>
                        <a:t>AUGUST</a:t>
                      </a: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atin typeface="Arial" charset="0"/>
                          <a:ea typeface="Arial" charset="0"/>
                          <a:cs typeface="Arial" charset="0"/>
                        </a:rPr>
                        <a:t>-----</a:t>
                      </a: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atin typeface="Arial" charset="0"/>
                          <a:ea typeface="Arial" charset="0"/>
                          <a:cs typeface="Arial" charset="0"/>
                        </a:rPr>
                        <a:t>-----</a:t>
                      </a: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atin typeface="Arial" charset="0"/>
                          <a:ea typeface="Arial" charset="0"/>
                          <a:cs typeface="Arial" charset="0"/>
                        </a:rPr>
                        <a:t>-----</a:t>
                      </a: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MAY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1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 Advisor and Research Topic</a:t>
                      </a:r>
                      <a:endParaRPr lang="en-US" sz="1150" dirty="0">
                        <a:highlight>
                          <a:srgbClr val="FFFF00"/>
                        </a:highlight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1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Preliminary Research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1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 Research Proposal</a:t>
                      </a: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charset="0"/>
                          <a:ea typeface="Arial" pitchFamily="34" charset="-122"/>
                          <a:cs typeface="Arial" charset="0"/>
                        </a:rPr>
                        <a:t> / Synopsis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1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Literature Survey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41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50" b="1" dirty="0">
                          <a:solidFill>
                            <a:srgbClr val="A62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 Paper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41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Collection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41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Intermediate Review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solidFill>
                          <a:srgbClr val="FFFF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solidFill>
                          <a:srgbClr val="FFFF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solidFill>
                          <a:srgbClr val="FFFF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22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solidFill>
                          <a:srgbClr val="FFFF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22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41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Conduct Research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41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 Chapters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41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Intermediate Review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41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A62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 Paper(s): Submit &amp; Publish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41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A62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Patent Filing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41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Write Papers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22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22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41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Finalize Research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22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41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latin typeface="Arial" charset="0"/>
                          <a:ea typeface="Arial" charset="0"/>
                          <a:cs typeface="Arial" charset="0"/>
                        </a:rPr>
                        <a:t>Etc.</a:t>
                      </a: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41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41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41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41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TextBox 5"/>
          <p:cNvSpPr txBox="1"/>
          <p:nvPr/>
        </p:nvSpPr>
        <p:spPr>
          <a:xfrm>
            <a:off x="1170432" y="-14721"/>
            <a:ext cx="6824176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122B4A"/>
                </a:solidFill>
                <a:latin typeface="Aptos"/>
              </a:rPr>
              <a:t>INDERPRASTHA ENGINEERING COLLEGE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73566"/>
            <a:ext cx="2939266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97380"/>
                </a:solidFill>
                <a:latin typeface="Aptos"/>
              </a:rPr>
              <a:t>Shaping Engineers and Leaders for Future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56148" y="204402"/>
            <a:ext cx="348172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chemeClr val="tx2"/>
                </a:solidFill>
                <a:latin typeface="Aptos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768096"/>
            <a:ext cx="12191695" cy="41148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566928" y="921646"/>
            <a:ext cx="2861681" cy="70788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000" b="1">
                <a:solidFill>
                  <a:srgbClr val="122B4A"/>
                </a:solidFill>
                <a:latin typeface="Aptos"/>
              </a:rPr>
              <a:t>Conclusion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691640"/>
            <a:ext cx="1046988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" name="TextBox 11"/>
          <p:cNvSpPr txBox="1"/>
          <p:nvPr/>
        </p:nvSpPr>
        <p:spPr>
          <a:xfrm>
            <a:off x="1325880" y="2148840"/>
            <a:ext cx="9555480" cy="2408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72C"/>
                </a:solidFill>
                <a:latin typeface="Aptos"/>
              </a:defRPr>
            </a:pPr>
            <a:r>
              <a:rPr sz="3200" dirty="0"/>
              <a:t>•  [Restate the problem addressed]</a:t>
            </a:r>
          </a:p>
          <a:p>
            <a:pPr>
              <a:spcAft>
                <a:spcPts val="900"/>
              </a:spcAft>
              <a:defRPr sz="1900">
                <a:solidFill>
                  <a:srgbClr val="23272C"/>
                </a:solidFill>
                <a:latin typeface="Aptos"/>
              </a:defRPr>
            </a:pPr>
            <a:r>
              <a:rPr sz="3200" dirty="0"/>
              <a:t>•  [Summarize the proposed/implemented solution]</a:t>
            </a:r>
          </a:p>
          <a:p>
            <a:pPr>
              <a:spcAft>
                <a:spcPts val="900"/>
              </a:spcAft>
              <a:defRPr sz="1900">
                <a:solidFill>
                  <a:srgbClr val="23272C"/>
                </a:solidFill>
                <a:latin typeface="Aptos"/>
              </a:defRPr>
            </a:pPr>
            <a:r>
              <a:rPr sz="3200" dirty="0"/>
              <a:t>•  [State the main progress or findings]</a:t>
            </a:r>
          </a:p>
          <a:p>
            <a:pPr>
              <a:spcAft>
                <a:spcPts val="900"/>
              </a:spcAft>
              <a:defRPr sz="1900">
                <a:solidFill>
                  <a:srgbClr val="23272C"/>
                </a:solidFill>
                <a:latin typeface="Aptos"/>
              </a:defRPr>
            </a:pPr>
            <a:r>
              <a:rPr sz="3200" dirty="0"/>
              <a:t>•  [Mention the next immediate milestone]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4715" y="5475358"/>
            <a:ext cx="2952090" cy="70788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00" b="1" dirty="0">
                <a:solidFill>
                  <a:schemeClr val="tx2"/>
                </a:solidFill>
                <a:latin typeface="Aptos"/>
              </a:rPr>
              <a:t>THANK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3154" y="5918508"/>
            <a:ext cx="3355214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0">
                <a:solidFill>
                  <a:srgbClr val="697380"/>
                </a:solidFill>
                <a:latin typeface="Aptos"/>
              </a:rPr>
              <a:t>Questions &amp; Discussion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B4A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TextBox 15"/>
          <p:cNvSpPr txBox="1"/>
          <p:nvPr/>
        </p:nvSpPr>
        <p:spPr>
          <a:xfrm>
            <a:off x="411480" y="6535172"/>
            <a:ext cx="2699778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PROJECT REVIEW PRESENTATION  |  IPEC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23252" y="6535172"/>
            <a:ext cx="335348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pic>
        <p:nvPicPr>
          <p:cNvPr id="19" name="Picture 18" descr="Best Engineering College in Ghaziabad | B.Tech, MBA, MCA ...">
            <a:extLst>
              <a:ext uri="{FF2B5EF4-FFF2-40B4-BE49-F238E27FC236}">
                <a16:creationId xmlns:a16="http://schemas.microsoft.com/office/drawing/2014/main" id="{A1955670-05BD-6268-F8D2-B72B9AD74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7" y="49643"/>
            <a:ext cx="891414" cy="85668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TextBox 5"/>
          <p:cNvSpPr txBox="1"/>
          <p:nvPr/>
        </p:nvSpPr>
        <p:spPr>
          <a:xfrm>
            <a:off x="1170432" y="-14721"/>
            <a:ext cx="6824176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122B4A"/>
                </a:solidFill>
                <a:latin typeface="Aptos"/>
              </a:rPr>
              <a:t>INDERPRASTHA ENGINEERING COLLEGE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73566"/>
            <a:ext cx="2939266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97380"/>
                </a:solidFill>
                <a:latin typeface="Aptos"/>
              </a:rPr>
              <a:t>Shaping Engineers and Leaders for Future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32890" y="204402"/>
            <a:ext cx="771430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 dirty="0">
                <a:solidFill>
                  <a:schemeClr val="tx2"/>
                </a:solidFill>
                <a:latin typeface="Aptos"/>
              </a:rPr>
              <a:t>BACKUP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768096"/>
            <a:ext cx="12191695" cy="41148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566928" y="921646"/>
            <a:ext cx="5739648" cy="70788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000" b="1">
                <a:solidFill>
                  <a:srgbClr val="122B4A"/>
                </a:solidFill>
                <a:latin typeface="Aptos"/>
              </a:rPr>
              <a:t>Questions &amp;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400" y="2588864"/>
            <a:ext cx="10872720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0" dirty="0">
                <a:solidFill>
                  <a:srgbClr val="697380"/>
                </a:solidFill>
                <a:latin typeface="Aptos"/>
              </a:rPr>
              <a:t>[Use this slide for additional technical details, equations, tables, screenshots, or backup results.]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B4A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TextBox 12"/>
          <p:cNvSpPr txBox="1"/>
          <p:nvPr/>
        </p:nvSpPr>
        <p:spPr>
          <a:xfrm>
            <a:off x="411480" y="6535172"/>
            <a:ext cx="2699778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PROJECT REVIEW PRESENTATION  |  IPEC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23252" y="6535172"/>
            <a:ext cx="335348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tos"/>
              </a:rPr>
              <a:t>13</a:t>
            </a:r>
          </a:p>
        </p:txBody>
      </p:sp>
      <p:pic>
        <p:nvPicPr>
          <p:cNvPr id="16" name="Picture 15" descr="Best Engineering College in Ghaziabad | B.Tech, MBA, MCA ...">
            <a:extLst>
              <a:ext uri="{FF2B5EF4-FFF2-40B4-BE49-F238E27FC236}">
                <a16:creationId xmlns:a16="http://schemas.microsoft.com/office/drawing/2014/main" id="{8EA2C211-2EAD-1256-D039-0361185BA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7" y="49643"/>
            <a:ext cx="891414" cy="8566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847</Words>
  <Application>Microsoft Office PowerPoint</Application>
  <PresentationFormat>Widescreen</PresentationFormat>
  <Paragraphs>237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Swapna Singh</cp:lastModifiedBy>
  <cp:revision>2</cp:revision>
  <dcterms:created xsi:type="dcterms:W3CDTF">2013-01-27T09:14:16Z</dcterms:created>
  <dcterms:modified xsi:type="dcterms:W3CDTF">2026-09-21T09:19:59Z</dcterms:modified>
  <cp:category/>
</cp:coreProperties>
</file>